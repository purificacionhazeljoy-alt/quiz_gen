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Poppins Bold" charset="1" panose="00000800000000000000"/>
      <p:regular r:id="rId38"/>
    </p:embeddedFont>
    <p:embeddedFont>
      <p:font typeface="Poppins" charset="1" panose="0000050000000000000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972274" y="7600764"/>
            <a:ext cx="20279578"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5400000">
            <a:off x="4851684" y="6471528"/>
            <a:ext cx="301625" cy="263922"/>
            <a:chOff x="0" y="0"/>
            <a:chExt cx="812800" cy="711200"/>
          </a:xfrm>
        </p:grpSpPr>
        <p:sp>
          <p:nvSpPr>
            <p:cNvPr name="Freeform 4" id="4"/>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gradFill rotWithShape="true">
              <a:gsLst>
                <a:gs pos="0">
                  <a:srgbClr val="000000">
                    <a:alpha val="100000"/>
                  </a:srgbClr>
                </a:gs>
                <a:gs pos="100000">
                  <a:srgbClr val="001B0C">
                    <a:alpha val="100000"/>
                  </a:srgbClr>
                </a:gs>
              </a:gsLst>
              <a:lin ang="0"/>
            </a:gradFill>
          </p:spPr>
        </p:sp>
        <p:sp>
          <p:nvSpPr>
            <p:cNvPr name="TextBox 5" id="5"/>
            <p:cNvSpPr txBox="true"/>
            <p:nvPr/>
          </p:nvSpPr>
          <p:spPr>
            <a:xfrm>
              <a:off x="127000" y="273050"/>
              <a:ext cx="558800" cy="387350"/>
            </a:xfrm>
            <a:prstGeom prst="rect">
              <a:avLst/>
            </a:prstGeom>
          </p:spPr>
          <p:txBody>
            <a:bodyPr anchor="ctr" rtlCol="false" tIns="50800" lIns="50800" bIns="50800" rIns="50800"/>
            <a:lstStyle/>
            <a:p>
              <a:pPr algn="ctr">
                <a:lnSpc>
                  <a:spcPts val="2799"/>
                </a:lnSpc>
              </a:pPr>
            </a:p>
          </p:txBody>
        </p:sp>
      </p:grpSp>
      <p:grpSp>
        <p:nvGrpSpPr>
          <p:cNvPr name="Group 6" id="6"/>
          <p:cNvGrpSpPr/>
          <p:nvPr/>
        </p:nvGrpSpPr>
        <p:grpSpPr>
          <a:xfrm rot="0">
            <a:off x="16658475" y="728288"/>
            <a:ext cx="600825" cy="600825"/>
            <a:chOff x="0" y="0"/>
            <a:chExt cx="605054" cy="605054"/>
          </a:xfrm>
        </p:grpSpPr>
        <p:sp>
          <p:nvSpPr>
            <p:cNvPr name="Freeform 7" id="7"/>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8" id="8"/>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409700" y="2385923"/>
            <a:ext cx="12809130" cy="2867164"/>
          </a:xfrm>
          <a:prstGeom prst="rect">
            <a:avLst/>
          </a:prstGeom>
        </p:spPr>
        <p:txBody>
          <a:bodyPr anchor="t" rtlCol="false" tIns="0" lIns="0" bIns="0" rIns="0">
            <a:spAutoFit/>
          </a:bodyPr>
          <a:lstStyle/>
          <a:p>
            <a:pPr algn="l">
              <a:lnSpc>
                <a:spcPts val="10732"/>
              </a:lnSpc>
            </a:pPr>
            <a:r>
              <a:rPr lang="en-US" sz="10319" b="true">
                <a:solidFill>
                  <a:srgbClr val="FFFFFF"/>
                </a:solidFill>
                <a:latin typeface="Poppins Bold"/>
                <a:ea typeface="Poppins Bold"/>
                <a:cs typeface="Poppins Bold"/>
                <a:sym typeface="Poppins Bold"/>
              </a:rPr>
              <a:t>SQL STORED PROCEDURE</a:t>
            </a:r>
          </a:p>
        </p:txBody>
      </p:sp>
      <p:sp>
        <p:nvSpPr>
          <p:cNvPr name="TextBox 11" id="11"/>
          <p:cNvSpPr txBox="true"/>
          <p:nvPr/>
        </p:nvSpPr>
        <p:spPr>
          <a:xfrm rot="0">
            <a:off x="1409700" y="5506509"/>
            <a:ext cx="8138360" cy="321945"/>
          </a:xfrm>
          <a:prstGeom prst="rect">
            <a:avLst/>
          </a:prstGeom>
        </p:spPr>
        <p:txBody>
          <a:bodyPr anchor="t" rtlCol="false" tIns="0" lIns="0" bIns="0" rIns="0">
            <a:spAutoFit/>
          </a:bodyPr>
          <a:lstStyle/>
          <a:p>
            <a:pPr algn="l">
              <a:lnSpc>
                <a:spcPts val="2340"/>
              </a:lnSpc>
            </a:pPr>
            <a:r>
              <a:rPr lang="en-US" sz="2000" spc="744">
                <a:solidFill>
                  <a:srgbClr val="FFFFFF"/>
                </a:solidFill>
                <a:latin typeface="Poppins"/>
                <a:ea typeface="Poppins"/>
                <a:cs typeface="Poppins"/>
                <a:sym typeface="Poppins"/>
              </a:rPr>
              <a:t>REY JOHN P. AGUILAR</a:t>
            </a:r>
          </a:p>
        </p:txBody>
      </p:sp>
      <p:sp>
        <p:nvSpPr>
          <p:cNvPr name="TextBox 12" id="12"/>
          <p:cNvSpPr txBox="true"/>
          <p:nvPr/>
        </p:nvSpPr>
        <p:spPr>
          <a:xfrm rot="0">
            <a:off x="1659904" y="6328851"/>
            <a:ext cx="2466661" cy="425450"/>
          </a:xfrm>
          <a:prstGeom prst="rect">
            <a:avLst/>
          </a:prstGeom>
        </p:spPr>
        <p:txBody>
          <a:bodyPr anchor="t" rtlCol="false" tIns="0" lIns="0" bIns="0" rIns="0">
            <a:spAutoFit/>
          </a:bodyPr>
          <a:lstStyle/>
          <a:p>
            <a:pPr algn="ctr">
              <a:lnSpc>
                <a:spcPts val="3400"/>
              </a:lnSpc>
            </a:pPr>
            <a:r>
              <a:rPr lang="en-US" sz="2000">
                <a:solidFill>
                  <a:srgbClr val="000000"/>
                </a:solidFill>
                <a:latin typeface="Poppins"/>
                <a:ea typeface="Poppins"/>
                <a:cs typeface="Poppins"/>
                <a:sym typeface="Poppins"/>
              </a:rPr>
              <a:t>Start Slide</a:t>
            </a:r>
          </a:p>
        </p:txBody>
      </p:sp>
      <p:sp>
        <p:nvSpPr>
          <p:cNvPr name="TextBox 13" id="13"/>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4" id="14"/>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5" id="15"/>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grpSp>
        <p:nvGrpSpPr>
          <p:cNvPr name="Group 16" id="16"/>
          <p:cNvGrpSpPr/>
          <p:nvPr/>
        </p:nvGrpSpPr>
        <p:grpSpPr>
          <a:xfrm rot="0">
            <a:off x="11719131" y="2095446"/>
            <a:ext cx="9016084" cy="901608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11919132" y="2295447"/>
            <a:ext cx="8616083" cy="861608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24906" r="0" b="-24906"/>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sp>
        <p:nvSpPr>
          <p:cNvPr name="TextBox 3" id="3"/>
          <p:cNvSpPr txBox="true"/>
          <p:nvPr/>
        </p:nvSpPr>
        <p:spPr>
          <a:xfrm rot="0">
            <a:off x="2076450" y="3896772"/>
            <a:ext cx="7946310" cy="2997200"/>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Once you’ve learned how to perform CRUD operations (Create, Read, Update, Delete) using SQL in your programs, the next essential skill is mastering stored procedures. While CRUD teaches you how to interact with data, stored procedures teach you how to manage and organize complex logic within the database itself.</a:t>
            </a:r>
          </a:p>
          <a:p>
            <a:pPr algn="just">
              <a:lnSpc>
                <a:spcPts val="3400"/>
              </a:lnSpc>
            </a:pPr>
          </a:p>
        </p:txBody>
      </p:sp>
      <p:grpSp>
        <p:nvGrpSpPr>
          <p:cNvPr name="Group 4" id="4"/>
          <p:cNvGrpSpPr/>
          <p:nvPr/>
        </p:nvGrpSpPr>
        <p:grpSpPr>
          <a:xfrm rot="0">
            <a:off x="10421892" y="2405474"/>
            <a:ext cx="6236583" cy="2623185"/>
            <a:chOff x="0" y="0"/>
            <a:chExt cx="966210" cy="406400"/>
          </a:xfrm>
        </p:grpSpPr>
        <p:sp>
          <p:nvSpPr>
            <p:cNvPr name="Freeform 5" id="5"/>
            <p:cNvSpPr/>
            <p:nvPr/>
          </p:nvSpPr>
          <p:spPr>
            <a:xfrm flipH="false" flipV="false" rot="0">
              <a:off x="0" y="0"/>
              <a:ext cx="966210" cy="406400"/>
            </a:xfrm>
            <a:custGeom>
              <a:avLst/>
              <a:gdLst/>
              <a:ahLst/>
              <a:cxnLst/>
              <a:rect r="r" b="b" t="t" l="l"/>
              <a:pathLst>
                <a:path h="406400" w="966210">
                  <a:moveTo>
                    <a:pt x="28552" y="0"/>
                  </a:moveTo>
                  <a:lnTo>
                    <a:pt x="937658" y="0"/>
                  </a:lnTo>
                  <a:cubicBezTo>
                    <a:pt x="953427" y="0"/>
                    <a:pt x="966210" y="12783"/>
                    <a:pt x="966210" y="28552"/>
                  </a:cubicBezTo>
                  <a:lnTo>
                    <a:pt x="966210" y="377848"/>
                  </a:lnTo>
                  <a:cubicBezTo>
                    <a:pt x="966210" y="393617"/>
                    <a:pt x="953427" y="406400"/>
                    <a:pt x="937658" y="406400"/>
                  </a:cubicBezTo>
                  <a:lnTo>
                    <a:pt x="28552" y="406400"/>
                  </a:lnTo>
                  <a:cubicBezTo>
                    <a:pt x="12783" y="406400"/>
                    <a:pt x="0" y="393617"/>
                    <a:pt x="0" y="377848"/>
                  </a:cubicBezTo>
                  <a:lnTo>
                    <a:pt x="0" y="28552"/>
                  </a:lnTo>
                  <a:cubicBezTo>
                    <a:pt x="0" y="12783"/>
                    <a:pt x="12783" y="0"/>
                    <a:pt x="28552" y="0"/>
                  </a:cubicBezTo>
                  <a:close/>
                </a:path>
              </a:pathLst>
            </a:custGeom>
            <a:blipFill>
              <a:blip r:embed="rId2"/>
              <a:stretch>
                <a:fillRect l="0" t="-29348" r="0" b="-29348"/>
              </a:stretch>
            </a:blipFill>
          </p:spPr>
        </p:sp>
      </p:grpSp>
      <p:grpSp>
        <p:nvGrpSpPr>
          <p:cNvPr name="Group 6" id="6"/>
          <p:cNvGrpSpPr/>
          <p:nvPr/>
        </p:nvGrpSpPr>
        <p:grpSpPr>
          <a:xfrm rot="0">
            <a:off x="13815243" y="5552216"/>
            <a:ext cx="2843232" cy="2623185"/>
            <a:chOff x="0" y="0"/>
            <a:chExt cx="440491" cy="406400"/>
          </a:xfrm>
        </p:grpSpPr>
        <p:sp>
          <p:nvSpPr>
            <p:cNvPr name="Freeform 7" id="7"/>
            <p:cNvSpPr/>
            <p:nvPr/>
          </p:nvSpPr>
          <p:spPr>
            <a:xfrm flipH="false" flipV="false" rot="0">
              <a:off x="0" y="0"/>
              <a:ext cx="440491" cy="406400"/>
            </a:xfrm>
            <a:custGeom>
              <a:avLst/>
              <a:gdLst/>
              <a:ahLst/>
              <a:cxnLst/>
              <a:rect r="r" b="b" t="t" l="l"/>
              <a:pathLst>
                <a:path h="406400" w="440491">
                  <a:moveTo>
                    <a:pt x="62627" y="0"/>
                  </a:moveTo>
                  <a:lnTo>
                    <a:pt x="377864" y="0"/>
                  </a:lnTo>
                  <a:cubicBezTo>
                    <a:pt x="394474" y="0"/>
                    <a:pt x="410403" y="6598"/>
                    <a:pt x="422148" y="18343"/>
                  </a:cubicBezTo>
                  <a:cubicBezTo>
                    <a:pt x="433893" y="30088"/>
                    <a:pt x="440491" y="46018"/>
                    <a:pt x="440491" y="62627"/>
                  </a:cubicBezTo>
                  <a:lnTo>
                    <a:pt x="440491" y="343773"/>
                  </a:lnTo>
                  <a:cubicBezTo>
                    <a:pt x="440491" y="378361"/>
                    <a:pt x="412452" y="406400"/>
                    <a:pt x="377864" y="406400"/>
                  </a:cubicBezTo>
                  <a:lnTo>
                    <a:pt x="62627" y="406400"/>
                  </a:lnTo>
                  <a:cubicBezTo>
                    <a:pt x="28039" y="406400"/>
                    <a:pt x="0" y="378361"/>
                    <a:pt x="0" y="343773"/>
                  </a:cubicBezTo>
                  <a:lnTo>
                    <a:pt x="0" y="62627"/>
                  </a:lnTo>
                  <a:cubicBezTo>
                    <a:pt x="0" y="28039"/>
                    <a:pt x="28039" y="0"/>
                    <a:pt x="62627" y="0"/>
                  </a:cubicBezTo>
                  <a:close/>
                </a:path>
              </a:pathLst>
            </a:custGeom>
            <a:blipFill>
              <a:blip r:embed="rId3"/>
              <a:stretch>
                <a:fillRect l="-19630" t="0" r="-19630" b="0"/>
              </a:stretch>
            </a:blipFill>
          </p:spPr>
        </p:sp>
      </p:grpSp>
      <p:grpSp>
        <p:nvGrpSpPr>
          <p:cNvPr name="Group 8" id="8"/>
          <p:cNvGrpSpPr/>
          <p:nvPr/>
        </p:nvGrpSpPr>
        <p:grpSpPr>
          <a:xfrm rot="0">
            <a:off x="10421892" y="5552216"/>
            <a:ext cx="2843232" cy="2623185"/>
            <a:chOff x="0" y="0"/>
            <a:chExt cx="440491" cy="406400"/>
          </a:xfrm>
        </p:grpSpPr>
        <p:sp>
          <p:nvSpPr>
            <p:cNvPr name="Freeform 9" id="9"/>
            <p:cNvSpPr/>
            <p:nvPr/>
          </p:nvSpPr>
          <p:spPr>
            <a:xfrm flipH="false" flipV="false" rot="0">
              <a:off x="0" y="0"/>
              <a:ext cx="440491" cy="406400"/>
            </a:xfrm>
            <a:custGeom>
              <a:avLst/>
              <a:gdLst/>
              <a:ahLst/>
              <a:cxnLst/>
              <a:rect r="r" b="b" t="t" l="l"/>
              <a:pathLst>
                <a:path h="406400" w="440491">
                  <a:moveTo>
                    <a:pt x="62627" y="0"/>
                  </a:moveTo>
                  <a:lnTo>
                    <a:pt x="377864" y="0"/>
                  </a:lnTo>
                  <a:cubicBezTo>
                    <a:pt x="394474" y="0"/>
                    <a:pt x="410403" y="6598"/>
                    <a:pt x="422148" y="18343"/>
                  </a:cubicBezTo>
                  <a:cubicBezTo>
                    <a:pt x="433893" y="30088"/>
                    <a:pt x="440491" y="46018"/>
                    <a:pt x="440491" y="62627"/>
                  </a:cubicBezTo>
                  <a:lnTo>
                    <a:pt x="440491" y="343773"/>
                  </a:lnTo>
                  <a:cubicBezTo>
                    <a:pt x="440491" y="378361"/>
                    <a:pt x="412452" y="406400"/>
                    <a:pt x="377864" y="406400"/>
                  </a:cubicBezTo>
                  <a:lnTo>
                    <a:pt x="62627" y="406400"/>
                  </a:lnTo>
                  <a:cubicBezTo>
                    <a:pt x="28039" y="406400"/>
                    <a:pt x="0" y="378361"/>
                    <a:pt x="0" y="343773"/>
                  </a:cubicBezTo>
                  <a:lnTo>
                    <a:pt x="0" y="62627"/>
                  </a:lnTo>
                  <a:cubicBezTo>
                    <a:pt x="0" y="28039"/>
                    <a:pt x="28039" y="0"/>
                    <a:pt x="62627" y="0"/>
                  </a:cubicBezTo>
                  <a:close/>
                </a:path>
              </a:pathLst>
            </a:custGeom>
            <a:blipFill>
              <a:blip r:embed="rId4"/>
              <a:stretch>
                <a:fillRect l="-19109" t="0" r="-19109" b="0"/>
              </a:stretch>
            </a:blipFill>
          </p:spPr>
        </p:sp>
      </p:grpSp>
      <p:grpSp>
        <p:nvGrpSpPr>
          <p:cNvPr name="Group 10" id="10"/>
          <p:cNvGrpSpPr/>
          <p:nvPr/>
        </p:nvGrpSpPr>
        <p:grpSpPr>
          <a:xfrm rot="0">
            <a:off x="16658475" y="728288"/>
            <a:ext cx="600825" cy="600825"/>
            <a:chOff x="0" y="0"/>
            <a:chExt cx="605054" cy="605054"/>
          </a:xfrm>
        </p:grpSpPr>
        <p:sp>
          <p:nvSpPr>
            <p:cNvPr name="Freeform 11" id="11"/>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12" id="12"/>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5" id="15"/>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6" id="16"/>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
        <p:nvSpPr>
          <p:cNvPr name="TextBox 17" id="17"/>
          <p:cNvSpPr txBox="true"/>
          <p:nvPr/>
        </p:nvSpPr>
        <p:spPr>
          <a:xfrm rot="0">
            <a:off x="1088850" y="8899558"/>
            <a:ext cx="3467403" cy="358775"/>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OVERVIEW</a:t>
            </a:r>
          </a:p>
        </p:txBody>
      </p:sp>
      <p:sp>
        <p:nvSpPr>
          <p:cNvPr name="TextBox 18" id="18"/>
          <p:cNvSpPr txBox="true"/>
          <p:nvPr/>
        </p:nvSpPr>
        <p:spPr>
          <a:xfrm rot="0">
            <a:off x="2076450" y="2643098"/>
            <a:ext cx="6467928" cy="1172211"/>
          </a:xfrm>
          <a:prstGeom prst="rect">
            <a:avLst/>
          </a:prstGeom>
        </p:spPr>
        <p:txBody>
          <a:bodyPr anchor="t" rtlCol="false" tIns="0" lIns="0" bIns="0" rIns="0">
            <a:spAutoFit/>
          </a:bodyPr>
          <a:lstStyle/>
          <a:p>
            <a:pPr algn="l">
              <a:lnSpc>
                <a:spcPts val="8320"/>
              </a:lnSpc>
            </a:pPr>
            <a:r>
              <a:rPr lang="en-US" sz="8000" b="true">
                <a:solidFill>
                  <a:srgbClr val="FFFFFF"/>
                </a:solidFill>
                <a:latin typeface="Poppins Bold"/>
                <a:ea typeface="Poppins Bold"/>
                <a:cs typeface="Poppins Bold"/>
                <a:sym typeface="Poppins Bold"/>
              </a:rPr>
              <a:t>about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716421" y="2624507"/>
            <a:ext cx="9063378" cy="5005434"/>
            <a:chOff x="0" y="0"/>
            <a:chExt cx="9127171" cy="5040665"/>
          </a:xfrm>
        </p:grpSpPr>
        <p:sp>
          <p:nvSpPr>
            <p:cNvPr name="Freeform 4" id="4"/>
            <p:cNvSpPr/>
            <p:nvPr/>
          </p:nvSpPr>
          <p:spPr>
            <a:xfrm flipH="false" flipV="false" rot="0">
              <a:off x="0" y="0"/>
              <a:ext cx="9127171" cy="5040665"/>
            </a:xfrm>
            <a:custGeom>
              <a:avLst/>
              <a:gdLst/>
              <a:ahLst/>
              <a:cxnLst/>
              <a:rect r="r" b="b" t="t" l="l"/>
              <a:pathLst>
                <a:path h="5040665" w="9127171">
                  <a:moveTo>
                    <a:pt x="32460" y="0"/>
                  </a:moveTo>
                  <a:lnTo>
                    <a:pt x="9094712" y="0"/>
                  </a:lnTo>
                  <a:cubicBezTo>
                    <a:pt x="9112638" y="0"/>
                    <a:pt x="9127171" y="14533"/>
                    <a:pt x="9127171" y="32460"/>
                  </a:cubicBezTo>
                  <a:lnTo>
                    <a:pt x="9127171" y="5008205"/>
                  </a:lnTo>
                  <a:cubicBezTo>
                    <a:pt x="9127171" y="5016814"/>
                    <a:pt x="9123751" y="5025070"/>
                    <a:pt x="9117664" y="5031158"/>
                  </a:cubicBezTo>
                  <a:cubicBezTo>
                    <a:pt x="9111576" y="5037245"/>
                    <a:pt x="9103320" y="5040665"/>
                    <a:pt x="9094712" y="5040665"/>
                  </a:cubicBezTo>
                  <a:lnTo>
                    <a:pt x="32460" y="5040665"/>
                  </a:lnTo>
                  <a:cubicBezTo>
                    <a:pt x="14533" y="5040665"/>
                    <a:pt x="0" y="5026132"/>
                    <a:pt x="0" y="5008205"/>
                  </a:cubicBezTo>
                  <a:lnTo>
                    <a:pt x="0" y="32460"/>
                  </a:lnTo>
                  <a:cubicBezTo>
                    <a:pt x="0" y="14533"/>
                    <a:pt x="14533" y="0"/>
                    <a:pt x="32460" y="0"/>
                  </a:cubicBezTo>
                  <a:close/>
                </a:path>
              </a:pathLst>
            </a:custGeom>
            <a:gradFill rotWithShape="true">
              <a:gsLst>
                <a:gs pos="0">
                  <a:srgbClr val="4DA8EA">
                    <a:alpha val="85000"/>
                  </a:srgbClr>
                </a:gs>
                <a:gs pos="100000">
                  <a:srgbClr val="00D856">
                    <a:alpha val="85000"/>
                  </a:srgbClr>
                </a:gs>
              </a:gsLst>
              <a:lin ang="0"/>
            </a:gradFill>
            <a:ln w="9525" cap="rnd">
              <a:solidFill>
                <a:srgbClr val="FFFFFF">
                  <a:alpha val="84706"/>
                </a:srgbClr>
              </a:solidFill>
              <a:prstDash val="solid"/>
              <a:round/>
            </a:ln>
          </p:spPr>
        </p:sp>
        <p:sp>
          <p:nvSpPr>
            <p:cNvPr name="TextBox 5" id="5"/>
            <p:cNvSpPr txBox="true"/>
            <p:nvPr/>
          </p:nvSpPr>
          <p:spPr>
            <a:xfrm>
              <a:off x="0" y="-38100"/>
              <a:ext cx="9127171" cy="507876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34655" y="2819202"/>
            <a:ext cx="8699847" cy="4796153"/>
            <a:chOff x="0" y="0"/>
            <a:chExt cx="1347834" cy="743050"/>
          </a:xfrm>
        </p:grpSpPr>
        <p:sp>
          <p:nvSpPr>
            <p:cNvPr name="Freeform 7" id="7"/>
            <p:cNvSpPr/>
            <p:nvPr/>
          </p:nvSpPr>
          <p:spPr>
            <a:xfrm flipH="false" flipV="false" rot="0">
              <a:off x="0" y="0"/>
              <a:ext cx="1347834" cy="743050"/>
            </a:xfrm>
            <a:custGeom>
              <a:avLst/>
              <a:gdLst/>
              <a:ahLst/>
              <a:cxnLst/>
              <a:rect r="r" b="b" t="t" l="l"/>
              <a:pathLst>
                <a:path h="743050" w="1347834">
                  <a:moveTo>
                    <a:pt x="20468" y="0"/>
                  </a:moveTo>
                  <a:lnTo>
                    <a:pt x="1327366" y="0"/>
                  </a:lnTo>
                  <a:cubicBezTo>
                    <a:pt x="1338670" y="0"/>
                    <a:pt x="1347834" y="9164"/>
                    <a:pt x="1347834" y="20468"/>
                  </a:cubicBezTo>
                  <a:lnTo>
                    <a:pt x="1347834" y="722582"/>
                  </a:lnTo>
                  <a:cubicBezTo>
                    <a:pt x="1347834" y="733886"/>
                    <a:pt x="1338670" y="743050"/>
                    <a:pt x="1327366" y="743050"/>
                  </a:cubicBezTo>
                  <a:lnTo>
                    <a:pt x="20468" y="743050"/>
                  </a:lnTo>
                  <a:cubicBezTo>
                    <a:pt x="9164" y="743050"/>
                    <a:pt x="0" y="733886"/>
                    <a:pt x="0" y="722582"/>
                  </a:cubicBezTo>
                  <a:lnTo>
                    <a:pt x="0" y="20468"/>
                  </a:lnTo>
                  <a:cubicBezTo>
                    <a:pt x="0" y="9164"/>
                    <a:pt x="9164" y="0"/>
                    <a:pt x="20468" y="0"/>
                  </a:cubicBezTo>
                  <a:close/>
                </a:path>
              </a:pathLst>
            </a:custGeom>
            <a:blipFill>
              <a:blip r:embed="rId2"/>
              <a:stretch>
                <a:fillRect l="0" t="-12240" r="0" b="-12240"/>
              </a:stretch>
            </a:blipFill>
          </p:spPr>
        </p:sp>
      </p:grpSp>
      <p:grpSp>
        <p:nvGrpSpPr>
          <p:cNvPr name="Group 8" id="8"/>
          <p:cNvGrpSpPr/>
          <p:nvPr/>
        </p:nvGrpSpPr>
        <p:grpSpPr>
          <a:xfrm rot="0">
            <a:off x="16658475" y="728288"/>
            <a:ext cx="600825" cy="600825"/>
            <a:chOff x="0" y="0"/>
            <a:chExt cx="605054" cy="605054"/>
          </a:xfrm>
        </p:grpSpPr>
        <p:sp>
          <p:nvSpPr>
            <p:cNvPr name="Freeform 9" id="9"/>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10" id="10"/>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7786054" y="2957825"/>
            <a:ext cx="3086100" cy="30861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6131"/>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TextBox 15" id="15"/>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6" id="16"/>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7" id="17"/>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
        <p:nvSpPr>
          <p:cNvPr name="TextBox 18" id="18"/>
          <p:cNvSpPr txBox="true"/>
          <p:nvPr/>
        </p:nvSpPr>
        <p:spPr>
          <a:xfrm rot="0">
            <a:off x="9679307" y="1760974"/>
            <a:ext cx="6409763" cy="42829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Why Learning Stored Procedures Matters After CRUD</a:t>
            </a:r>
          </a:p>
        </p:txBody>
      </p:sp>
      <p:sp>
        <p:nvSpPr>
          <p:cNvPr name="TextBox 19" id="19"/>
          <p:cNvSpPr txBox="true"/>
          <p:nvPr/>
        </p:nvSpPr>
        <p:spPr>
          <a:xfrm rot="0">
            <a:off x="9329104" y="6054843"/>
            <a:ext cx="8496341" cy="2139950"/>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Once you've mastered basic CRUD operations, the next step is to learn how to organize and optimize your database logic. This is where stored procedures come in — they help you write cleaner, reusable, and more secure SQL code that's stored directly in the database.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8" id="8"/>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9" id="9"/>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
        <p:nvSpPr>
          <p:cNvPr name="TextBox 10" id="10"/>
          <p:cNvSpPr txBox="true"/>
          <p:nvPr/>
        </p:nvSpPr>
        <p:spPr>
          <a:xfrm rot="0">
            <a:off x="673489" y="1914972"/>
            <a:ext cx="1546123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Learning Stored Procedures Matters After CRUD</a:t>
            </a:r>
          </a:p>
        </p:txBody>
      </p:sp>
      <p:sp>
        <p:nvSpPr>
          <p:cNvPr name="TextBox 11" id="11"/>
          <p:cNvSpPr txBox="true"/>
          <p:nvPr/>
        </p:nvSpPr>
        <p:spPr>
          <a:xfrm rot="0">
            <a:off x="916813" y="3771275"/>
            <a:ext cx="16042075" cy="5076826"/>
          </a:xfrm>
          <a:prstGeom prst="rect">
            <a:avLst/>
          </a:prstGeom>
        </p:spPr>
        <p:txBody>
          <a:bodyPr anchor="t" rtlCol="false" tIns="0" lIns="0" bIns="0" rIns="0">
            <a:spAutoFit/>
          </a:bodyPr>
          <a:lstStyle/>
          <a:p>
            <a:pPr algn="just" marL="647695" indent="-323848" lvl="1">
              <a:lnSpc>
                <a:spcPts val="5099"/>
              </a:lnSpc>
              <a:buFont typeface="Arial"/>
              <a:buChar char="•"/>
            </a:pPr>
            <a:r>
              <a:rPr lang="en-US" sz="2999">
                <a:solidFill>
                  <a:srgbClr val="FFFFFF"/>
                </a:solidFill>
                <a:latin typeface="Poppins"/>
                <a:ea typeface="Poppins"/>
                <a:cs typeface="Poppins"/>
                <a:sym typeface="Poppins"/>
              </a:rPr>
              <a:t>Organizes Your SQL Logic</a:t>
            </a:r>
          </a:p>
          <a:p>
            <a:pPr algn="just">
              <a:lnSpc>
                <a:spcPts val="5099"/>
              </a:lnSpc>
            </a:pPr>
            <a:r>
              <a:rPr lang="en-US" sz="2999">
                <a:solidFill>
                  <a:srgbClr val="FFFFFF"/>
                </a:solidFill>
                <a:latin typeface="Poppins"/>
                <a:ea typeface="Poppins"/>
                <a:cs typeface="Poppins"/>
                <a:sym typeface="Poppins"/>
              </a:rPr>
              <a:t>Instead of placing long or repetitive SQL code in your application, you can put that logic inside the database using stored procedures. This keeps your application code clean and focused on business flow.</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Reduces Repetition</a:t>
            </a:r>
          </a:p>
          <a:p>
            <a:pPr algn="just">
              <a:lnSpc>
                <a:spcPts val="5099"/>
              </a:lnSpc>
            </a:pPr>
            <a:r>
              <a:rPr lang="en-US" sz="2999">
                <a:solidFill>
                  <a:srgbClr val="FFFFFF"/>
                </a:solidFill>
                <a:latin typeface="Poppins"/>
                <a:ea typeface="Poppins"/>
                <a:cs typeface="Poppins"/>
                <a:sym typeface="Poppins"/>
              </a:rPr>
              <a:t> Have a report or function you need to call again and again? With stored procedures, you define the logic once and just call it with different parameters.</a:t>
            </a:r>
          </a:p>
          <a:p>
            <a:pPr algn="just">
              <a:lnSpc>
                <a:spcPts val="509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8" id="8"/>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9" id="9"/>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
        <p:nvSpPr>
          <p:cNvPr name="TextBox 10" id="10"/>
          <p:cNvSpPr txBox="true"/>
          <p:nvPr/>
        </p:nvSpPr>
        <p:spPr>
          <a:xfrm rot="0">
            <a:off x="673489" y="1914972"/>
            <a:ext cx="1546123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Learning Stored Procedures Matters After CRUD</a:t>
            </a:r>
          </a:p>
        </p:txBody>
      </p:sp>
      <p:sp>
        <p:nvSpPr>
          <p:cNvPr name="TextBox 11" id="11"/>
          <p:cNvSpPr txBox="true"/>
          <p:nvPr/>
        </p:nvSpPr>
        <p:spPr>
          <a:xfrm rot="0">
            <a:off x="916813" y="3771275"/>
            <a:ext cx="16042075" cy="5715001"/>
          </a:xfrm>
          <a:prstGeom prst="rect">
            <a:avLst/>
          </a:prstGeom>
        </p:spPr>
        <p:txBody>
          <a:bodyPr anchor="t" rtlCol="false" tIns="0" lIns="0" bIns="0" rIns="0">
            <a:spAutoFit/>
          </a:bodyPr>
          <a:lstStyle/>
          <a:p>
            <a:pPr algn="just" marL="647695" indent="-323848" lvl="1">
              <a:lnSpc>
                <a:spcPts val="5099"/>
              </a:lnSpc>
              <a:buFont typeface="Arial"/>
              <a:buChar char="•"/>
            </a:pPr>
            <a:r>
              <a:rPr lang="en-US" sz="2999">
                <a:solidFill>
                  <a:srgbClr val="FFFFFF"/>
                </a:solidFill>
                <a:latin typeface="Poppins"/>
                <a:ea typeface="Poppins"/>
                <a:cs typeface="Poppins"/>
                <a:sym typeface="Poppins"/>
              </a:rPr>
              <a:t>Faster Execution</a:t>
            </a:r>
          </a:p>
          <a:p>
            <a:pPr algn="just">
              <a:lnSpc>
                <a:spcPts val="5099"/>
              </a:lnSpc>
            </a:pPr>
            <a:r>
              <a:rPr lang="en-US" sz="2999">
                <a:solidFill>
                  <a:srgbClr val="FFFFFF"/>
                </a:solidFill>
                <a:latin typeface="Poppins"/>
                <a:ea typeface="Poppins"/>
                <a:cs typeface="Poppins"/>
                <a:sym typeface="Poppins"/>
              </a:rPr>
              <a:t> Since stored procedures are compiled and stored on the server, they usually execute faster than raw SQL queries written repeatedly in your application.</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Improved Collaboration</a:t>
            </a:r>
          </a:p>
          <a:p>
            <a:pPr algn="just">
              <a:lnSpc>
                <a:spcPts val="5099"/>
              </a:lnSpc>
            </a:pPr>
            <a:r>
              <a:rPr lang="en-US" sz="2999">
                <a:solidFill>
                  <a:srgbClr val="FFFFFF"/>
                </a:solidFill>
                <a:latin typeface="Poppins"/>
                <a:ea typeface="Poppins"/>
                <a:cs typeface="Poppins"/>
                <a:sym typeface="Poppins"/>
              </a:rPr>
              <a:t>In bigger systems or teams, developers work on frontend and backend separately. Stored procedures give backend developers control over data logic, making teamwork more efficient.</a:t>
            </a:r>
          </a:p>
          <a:p>
            <a:pPr algn="just" marL="647695" indent="-323848" lvl="1">
              <a:lnSpc>
                <a:spcPts val="5099"/>
              </a:lnSpc>
              <a:buFont typeface="Arial"/>
              <a:buChar char="•"/>
            </a:pPr>
          </a:p>
          <a:p>
            <a:pPr algn="just">
              <a:lnSpc>
                <a:spcPts val="509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8" id="8"/>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9" id="9"/>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
        <p:nvSpPr>
          <p:cNvPr name="TextBox 10" id="10"/>
          <p:cNvSpPr txBox="true"/>
          <p:nvPr/>
        </p:nvSpPr>
        <p:spPr>
          <a:xfrm rot="0">
            <a:off x="673489" y="1914972"/>
            <a:ext cx="1546123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Learning Stored Procedures Matters After CRUD</a:t>
            </a:r>
          </a:p>
        </p:txBody>
      </p:sp>
      <p:sp>
        <p:nvSpPr>
          <p:cNvPr name="TextBox 11" id="11"/>
          <p:cNvSpPr txBox="true"/>
          <p:nvPr/>
        </p:nvSpPr>
        <p:spPr>
          <a:xfrm rot="0">
            <a:off x="916813" y="3771275"/>
            <a:ext cx="16042075" cy="2524126"/>
          </a:xfrm>
          <a:prstGeom prst="rect">
            <a:avLst/>
          </a:prstGeom>
        </p:spPr>
        <p:txBody>
          <a:bodyPr anchor="t" rtlCol="false" tIns="0" lIns="0" bIns="0" rIns="0">
            <a:spAutoFit/>
          </a:bodyPr>
          <a:lstStyle/>
          <a:p>
            <a:pPr algn="just" marL="647695" indent="-323848" lvl="1">
              <a:lnSpc>
                <a:spcPts val="5099"/>
              </a:lnSpc>
              <a:buFont typeface="Arial"/>
              <a:buChar char="•"/>
            </a:pPr>
            <a:r>
              <a:rPr lang="en-US" sz="2999">
                <a:solidFill>
                  <a:srgbClr val="FFFFFF"/>
                </a:solidFill>
                <a:latin typeface="Poppins"/>
                <a:ea typeface="Poppins"/>
                <a:cs typeface="Poppins"/>
                <a:sym typeface="Poppins"/>
              </a:rPr>
              <a:t>Prepares You for Advanced Tasks (Like Reports)</a:t>
            </a:r>
          </a:p>
          <a:p>
            <a:pPr algn="just">
              <a:lnSpc>
                <a:spcPts val="5099"/>
              </a:lnSpc>
            </a:pPr>
            <a:r>
              <a:rPr lang="en-US" sz="2999">
                <a:solidFill>
                  <a:srgbClr val="FFFFFF"/>
                </a:solidFill>
                <a:latin typeface="Poppins"/>
                <a:ea typeface="Poppins"/>
                <a:cs typeface="Poppins"/>
                <a:sym typeface="Poppins"/>
              </a:rPr>
              <a:t> Many real-world systems require generating summaries, analytics, and formatted reports. These tasks often involve multiple queries and conditions, which are easier to manage in stored procedures.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8" id="8"/>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9" id="9"/>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
        <p:nvSpPr>
          <p:cNvPr name="TextBox 10" id="10"/>
          <p:cNvSpPr txBox="true"/>
          <p:nvPr/>
        </p:nvSpPr>
        <p:spPr>
          <a:xfrm rot="0">
            <a:off x="673489" y="1914972"/>
            <a:ext cx="1546123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What is Stored Procedure in SQL?</a:t>
            </a:r>
          </a:p>
          <a:p>
            <a:pPr algn="l">
              <a:lnSpc>
                <a:spcPts val="6656"/>
              </a:lnSpc>
            </a:pPr>
          </a:p>
        </p:txBody>
      </p:sp>
      <p:sp>
        <p:nvSpPr>
          <p:cNvPr name="TextBox 11" id="11"/>
          <p:cNvSpPr txBox="true"/>
          <p:nvPr/>
        </p:nvSpPr>
        <p:spPr>
          <a:xfrm rot="0">
            <a:off x="916813" y="2875621"/>
            <a:ext cx="16042075" cy="4438651"/>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A stored procedure in SQL is a collection of SQL statements saved and stored within the database. The purpose of the SQL stored procedure is to perform a sequence of operations on a database, such as querying, inserting, updating, or deleting data. </a:t>
            </a:r>
          </a:p>
          <a:p>
            <a:pPr algn="just">
              <a:lnSpc>
                <a:spcPts val="5099"/>
              </a:lnSpc>
            </a:pPr>
            <a:r>
              <a:rPr lang="en-US" sz="2999">
                <a:solidFill>
                  <a:srgbClr val="FFFFFF"/>
                </a:solidFill>
                <a:latin typeface="Poppins"/>
                <a:ea typeface="Poppins"/>
                <a:cs typeface="Poppins"/>
                <a:sym typeface="Poppins"/>
              </a:rPr>
              <a:t>Unlike regular SQL queries, executed as separate commands, stored procedures encapsulate a set of SQL statements, making it easy to reuse the code without having to write SQL commands repeatedly.</a:t>
            </a:r>
          </a:p>
          <a:p>
            <a:pPr algn="just">
              <a:lnSpc>
                <a:spcPts val="509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8" id="8"/>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9" id="9"/>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
        <p:nvSpPr>
          <p:cNvPr name="TextBox 10" id="10"/>
          <p:cNvSpPr txBox="true"/>
          <p:nvPr/>
        </p:nvSpPr>
        <p:spPr>
          <a:xfrm rot="0">
            <a:off x="673489" y="1914972"/>
            <a:ext cx="1546123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The benefits of SQL stored procedures include the following:</a:t>
            </a:r>
          </a:p>
        </p:txBody>
      </p:sp>
      <p:sp>
        <p:nvSpPr>
          <p:cNvPr name="TextBox 11" id="11"/>
          <p:cNvSpPr txBox="true"/>
          <p:nvPr/>
        </p:nvSpPr>
        <p:spPr>
          <a:xfrm rot="0">
            <a:off x="916813" y="3859508"/>
            <a:ext cx="16042075" cy="5715001"/>
          </a:xfrm>
          <a:prstGeom prst="rect">
            <a:avLst/>
          </a:prstGeom>
        </p:spPr>
        <p:txBody>
          <a:bodyPr anchor="t" rtlCol="false" tIns="0" lIns="0" bIns="0" rIns="0">
            <a:spAutoFit/>
          </a:bodyPr>
          <a:lstStyle/>
          <a:p>
            <a:pPr algn="just" marL="647695" indent="-323848" lvl="1">
              <a:lnSpc>
                <a:spcPts val="5099"/>
              </a:lnSpc>
              <a:buFont typeface="Arial"/>
              <a:buChar char="•"/>
            </a:pPr>
            <a:r>
              <a:rPr lang="en-US" sz="2999">
                <a:solidFill>
                  <a:srgbClr val="FFFFFF"/>
                </a:solidFill>
                <a:latin typeface="Poppins"/>
                <a:ea typeface="Poppins"/>
                <a:cs typeface="Poppins"/>
                <a:sym typeface="Poppins"/>
              </a:rPr>
              <a:t>Code reusability: Once a stored procedure is created, it can be called as many times as needed, eliminating redundancy in SQL code.</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Enhanced performance: Stored procedures often execute faster because they are precompiled and stored on the database server, reducing network latency and compilation time.</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Security: Stored procedures can improve data security and control over sensitive data access by granting users permission to execute a stored procedure without direct access to tables.</a:t>
            </a:r>
          </a:p>
          <a:p>
            <a:pPr algn="just">
              <a:lnSpc>
                <a:spcPts val="509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447550" y="5143500"/>
            <a:ext cx="10955618" cy="3436438"/>
          </a:xfrm>
          <a:custGeom>
            <a:avLst/>
            <a:gdLst/>
            <a:ahLst/>
            <a:cxnLst/>
            <a:rect r="r" b="b" t="t" l="l"/>
            <a:pathLst>
              <a:path h="3436438" w="10955618">
                <a:moveTo>
                  <a:pt x="0" y="0"/>
                </a:moveTo>
                <a:lnTo>
                  <a:pt x="10955617" y="0"/>
                </a:lnTo>
                <a:lnTo>
                  <a:pt x="10955617" y="3436438"/>
                </a:lnTo>
                <a:lnTo>
                  <a:pt x="0" y="3436438"/>
                </a:lnTo>
                <a:lnTo>
                  <a:pt x="0" y="0"/>
                </a:lnTo>
                <a:close/>
              </a:path>
            </a:pathLst>
          </a:custGeom>
          <a:blipFill>
            <a:blip r:embed="rId4"/>
            <a:stretch>
              <a:fillRect l="0" t="0" r="0" b="0"/>
            </a:stretch>
          </a:blipFill>
        </p:spPr>
      </p:sp>
      <p:sp>
        <p:nvSpPr>
          <p:cNvPr name="TextBox 8" id="8"/>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9" id="9"/>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0" id="10"/>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
        <p:nvSpPr>
          <p:cNvPr name="TextBox 11" id="11"/>
          <p:cNvSpPr txBox="true"/>
          <p:nvPr/>
        </p:nvSpPr>
        <p:spPr>
          <a:xfrm rot="0">
            <a:off x="673489" y="1914972"/>
            <a:ext cx="1546123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Basic syntax and structure</a:t>
            </a:r>
          </a:p>
          <a:p>
            <a:pPr algn="l">
              <a:lnSpc>
                <a:spcPts val="6656"/>
              </a:lnSpc>
            </a:pPr>
          </a:p>
        </p:txBody>
      </p:sp>
      <p:sp>
        <p:nvSpPr>
          <p:cNvPr name="TextBox 12" id="12"/>
          <p:cNvSpPr txBox="true"/>
          <p:nvPr/>
        </p:nvSpPr>
        <p:spPr>
          <a:xfrm rot="0">
            <a:off x="1028700" y="2995873"/>
            <a:ext cx="16042075" cy="1885951"/>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The syntax for creating a stored procedure may vary slightly depending on the database system (e.g., MySQL, SQL Server, Oracle). Below is a general example using SQL Server syntax:</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8" id="8"/>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9" id="9"/>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
        <p:nvSpPr>
          <p:cNvPr name="TextBox 10" id="10"/>
          <p:cNvSpPr txBox="true"/>
          <p:nvPr/>
        </p:nvSpPr>
        <p:spPr>
          <a:xfrm rot="0">
            <a:off x="673489" y="1543497"/>
            <a:ext cx="1546123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Basic syntax and structure</a:t>
            </a:r>
          </a:p>
          <a:p>
            <a:pPr algn="l">
              <a:lnSpc>
                <a:spcPts val="6656"/>
              </a:lnSpc>
            </a:pPr>
          </a:p>
        </p:txBody>
      </p:sp>
      <p:sp>
        <p:nvSpPr>
          <p:cNvPr name="TextBox 11" id="11"/>
          <p:cNvSpPr txBox="true"/>
          <p:nvPr/>
        </p:nvSpPr>
        <p:spPr>
          <a:xfrm rot="0">
            <a:off x="1122963" y="2635115"/>
            <a:ext cx="16042075" cy="6353176"/>
          </a:xfrm>
          <a:prstGeom prst="rect">
            <a:avLst/>
          </a:prstGeom>
        </p:spPr>
        <p:txBody>
          <a:bodyPr anchor="t" rtlCol="false" tIns="0" lIns="0" bIns="0" rIns="0">
            <a:spAutoFit/>
          </a:bodyPr>
          <a:lstStyle/>
          <a:p>
            <a:pPr algn="just" marL="647695" indent="-323848" lvl="1">
              <a:lnSpc>
                <a:spcPts val="5099"/>
              </a:lnSpc>
              <a:buFont typeface="Arial"/>
              <a:buChar char="•"/>
            </a:pPr>
            <a:r>
              <a:rPr lang="en-US" sz="2999">
                <a:solidFill>
                  <a:srgbClr val="FFFFFF"/>
                </a:solidFill>
                <a:latin typeface="Poppins"/>
                <a:ea typeface="Poppins"/>
                <a:cs typeface="Poppins"/>
                <a:sym typeface="Poppins"/>
              </a:rPr>
              <a:t>CREATE PROCEDURE: This command is used to define a new stored procedure.</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ProcedureName: The name given to the stored procedure. It should be unique within the database.</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@Parameter1, @Parameter2: Parameters are optional; they allow the procedure to receive data inputs. Each parameter is defined with a @ symbol and a data type (e.g., INT, VARCHAR(50)).</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AS BEGIN...END: The SQL statements within BEGIN and END form the body of the procedure, where the main logic is executed. The procedure retrieves records from a table based on specific conditions in this example.</a:t>
            </a:r>
          </a:p>
          <a:p>
            <a:pPr algn="just">
              <a:lnSpc>
                <a:spcPts val="509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73489" y="1543497"/>
            <a:ext cx="1546123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Input and output parameters</a:t>
            </a:r>
          </a:p>
          <a:p>
            <a:pPr algn="l">
              <a:lnSpc>
                <a:spcPts val="6656"/>
              </a:lnSpc>
            </a:pPr>
          </a:p>
        </p:txBody>
      </p:sp>
      <p:sp>
        <p:nvSpPr>
          <p:cNvPr name="TextBox 8" id="8"/>
          <p:cNvSpPr txBox="true"/>
          <p:nvPr/>
        </p:nvSpPr>
        <p:spPr>
          <a:xfrm rot="0">
            <a:off x="1122963" y="2635115"/>
            <a:ext cx="16042075" cy="4438651"/>
          </a:xfrm>
          <a:prstGeom prst="rect">
            <a:avLst/>
          </a:prstGeom>
        </p:spPr>
        <p:txBody>
          <a:bodyPr anchor="t" rtlCol="false" tIns="0" lIns="0" bIns="0" rIns="0">
            <a:spAutoFit/>
          </a:bodyPr>
          <a:lstStyle/>
          <a:p>
            <a:pPr algn="just" marL="647695" indent="-323848" lvl="1">
              <a:lnSpc>
                <a:spcPts val="5099"/>
              </a:lnSpc>
              <a:buFont typeface="Arial"/>
              <a:buChar char="•"/>
            </a:pPr>
            <a:r>
              <a:rPr lang="en-US" sz="2999">
                <a:solidFill>
                  <a:srgbClr val="FFFFFF"/>
                </a:solidFill>
                <a:latin typeface="Poppins"/>
                <a:ea typeface="Poppins"/>
                <a:cs typeface="Poppins"/>
                <a:sym typeface="Poppins"/>
              </a:rPr>
              <a:t>The input and output parameters allow you to pass values to and from a stored procedure. </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For example, if @Parameter1 is defined as an input parameter, it can be assigned any value when the procedure is called, affecting the SQL logic or output. In the example below, the @UserID parameter retrieves data specific to the provided UserID.</a:t>
            </a:r>
          </a:p>
          <a:p>
            <a:pPr algn="just">
              <a:lnSpc>
                <a:spcPts val="5099"/>
              </a:lnSpc>
            </a:pPr>
          </a:p>
        </p:txBody>
      </p:sp>
      <p:sp>
        <p:nvSpPr>
          <p:cNvPr name="Freeform 9" id="9"/>
          <p:cNvSpPr/>
          <p:nvPr/>
        </p:nvSpPr>
        <p:spPr>
          <a:xfrm flipH="false" flipV="false" rot="0">
            <a:off x="4048241" y="6552157"/>
            <a:ext cx="10934900" cy="3523292"/>
          </a:xfrm>
          <a:custGeom>
            <a:avLst/>
            <a:gdLst/>
            <a:ahLst/>
            <a:cxnLst/>
            <a:rect r="r" b="b" t="t" l="l"/>
            <a:pathLst>
              <a:path h="3523292" w="10934900">
                <a:moveTo>
                  <a:pt x="0" y="0"/>
                </a:moveTo>
                <a:lnTo>
                  <a:pt x="10934900" y="0"/>
                </a:lnTo>
                <a:lnTo>
                  <a:pt x="10934900" y="3523291"/>
                </a:lnTo>
                <a:lnTo>
                  <a:pt x="0" y="3523291"/>
                </a:lnTo>
                <a:lnTo>
                  <a:pt x="0" y="0"/>
                </a:lnTo>
                <a:close/>
              </a:path>
            </a:pathLst>
          </a:custGeom>
          <a:blipFill>
            <a:blip r:embed="rId4"/>
            <a:stretch>
              <a:fillRect l="0" t="0" r="0" b="0"/>
            </a:stretch>
          </a:blipFill>
        </p:spPr>
      </p:sp>
      <p:sp>
        <p:nvSpPr>
          <p:cNvPr name="TextBox 10" id="10"/>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1" id="11"/>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2" id="12"/>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840531" y="5595408"/>
            <a:ext cx="10934900" cy="3840705"/>
          </a:xfrm>
          <a:custGeom>
            <a:avLst/>
            <a:gdLst/>
            <a:ahLst/>
            <a:cxnLst/>
            <a:rect r="r" b="b" t="t" l="l"/>
            <a:pathLst>
              <a:path h="3840705" w="10934900">
                <a:moveTo>
                  <a:pt x="0" y="0"/>
                </a:moveTo>
                <a:lnTo>
                  <a:pt x="10934900" y="0"/>
                </a:lnTo>
                <a:lnTo>
                  <a:pt x="10934900" y="3840706"/>
                </a:lnTo>
                <a:lnTo>
                  <a:pt x="0" y="3840706"/>
                </a:lnTo>
                <a:lnTo>
                  <a:pt x="0" y="0"/>
                </a:lnTo>
                <a:close/>
              </a:path>
            </a:pathLst>
          </a:custGeom>
          <a:blipFill>
            <a:blip r:embed="rId4"/>
            <a:stretch>
              <a:fillRect l="0" t="0" r="0" b="0"/>
            </a:stretch>
          </a:blipFill>
        </p:spPr>
      </p:sp>
      <p:sp>
        <p:nvSpPr>
          <p:cNvPr name="TextBox 8" id="8"/>
          <p:cNvSpPr txBox="true"/>
          <p:nvPr/>
        </p:nvSpPr>
        <p:spPr>
          <a:xfrm rot="0">
            <a:off x="673489" y="1543497"/>
            <a:ext cx="1546123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Input and output parameters</a:t>
            </a:r>
          </a:p>
          <a:p>
            <a:pPr algn="l">
              <a:lnSpc>
                <a:spcPts val="6656"/>
              </a:lnSpc>
            </a:pPr>
          </a:p>
        </p:txBody>
      </p:sp>
      <p:sp>
        <p:nvSpPr>
          <p:cNvPr name="TextBox 9" id="9"/>
          <p:cNvSpPr txBox="true"/>
          <p:nvPr/>
        </p:nvSpPr>
        <p:spPr>
          <a:xfrm rot="0">
            <a:off x="1122963" y="2635115"/>
            <a:ext cx="16042075" cy="2524126"/>
          </a:xfrm>
          <a:prstGeom prst="rect">
            <a:avLst/>
          </a:prstGeom>
        </p:spPr>
        <p:txBody>
          <a:bodyPr anchor="t" rtlCol="false" tIns="0" lIns="0" bIns="0" rIns="0">
            <a:spAutoFit/>
          </a:bodyPr>
          <a:lstStyle/>
          <a:p>
            <a:pPr algn="just" marL="647695" indent="-323848" lvl="1">
              <a:lnSpc>
                <a:spcPts val="5099"/>
              </a:lnSpc>
              <a:buFont typeface="Arial"/>
              <a:buChar char="•"/>
            </a:pPr>
            <a:r>
              <a:rPr lang="en-US" sz="2999">
                <a:solidFill>
                  <a:srgbClr val="FFFFFF"/>
                </a:solidFill>
                <a:latin typeface="Poppins"/>
                <a:ea typeface="Poppins"/>
                <a:cs typeface="Poppins"/>
                <a:sym typeface="Poppins"/>
              </a:rPr>
              <a:t>Output parameters, defined by the OUTPUT keyword, allow a stored procedure to send a value back to the calling environment. For example, if a procedure calculates a discount, it could use an output parameter to pass it back to the calling program.</a:t>
            </a:r>
          </a:p>
        </p:txBody>
      </p:sp>
      <p:sp>
        <p:nvSpPr>
          <p:cNvPr name="TextBox 10" id="10"/>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1" id="11"/>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2" id="12"/>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73489" y="1543497"/>
            <a:ext cx="1546123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Stored Procedures in MySQL</a:t>
            </a:r>
          </a:p>
          <a:p>
            <a:pPr algn="l">
              <a:lnSpc>
                <a:spcPts val="6656"/>
              </a:lnSpc>
            </a:pPr>
          </a:p>
        </p:txBody>
      </p:sp>
      <p:sp>
        <p:nvSpPr>
          <p:cNvPr name="TextBox 8" id="8"/>
          <p:cNvSpPr txBox="true"/>
          <p:nvPr/>
        </p:nvSpPr>
        <p:spPr>
          <a:xfrm rot="0">
            <a:off x="1122963" y="2635115"/>
            <a:ext cx="16042075" cy="5076826"/>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As I had mentioned, executing a stored procedure in SQL can be done in different ways depending on the database system and the tools used.</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Creating stored procedures in MySQL</a:t>
            </a:r>
          </a:p>
          <a:p>
            <a:pPr algn="just">
              <a:lnSpc>
                <a:spcPts val="5099"/>
              </a:lnSpc>
            </a:pPr>
            <a:r>
              <a:rPr lang="en-US" sz="2999">
                <a:solidFill>
                  <a:srgbClr val="FFFFFF"/>
                </a:solidFill>
                <a:latin typeface="Poppins"/>
                <a:ea typeface="Poppins"/>
                <a:cs typeface="Poppins"/>
                <a:sym typeface="Poppins"/>
              </a:rPr>
              <a:t>Creating a stored procedure in MySQL involves defining the procedure's name, parameters, and the SQL statements that make up its body. The following example creates a procedure called GetEmployeeDetails that takes EmployeeID as an input parameter and retrieves details for that specific employee.</a:t>
            </a:r>
          </a:p>
          <a:p>
            <a:pPr algn="just">
              <a:lnSpc>
                <a:spcPts val="5099"/>
              </a:lnSpc>
            </a:pPr>
          </a:p>
        </p:txBody>
      </p:sp>
      <p:sp>
        <p:nvSpPr>
          <p:cNvPr name="Freeform 9" id="9"/>
          <p:cNvSpPr/>
          <p:nvPr/>
        </p:nvSpPr>
        <p:spPr>
          <a:xfrm flipH="false" flipV="false" rot="0">
            <a:off x="3620239" y="7207814"/>
            <a:ext cx="11047523" cy="2846038"/>
          </a:xfrm>
          <a:custGeom>
            <a:avLst/>
            <a:gdLst/>
            <a:ahLst/>
            <a:cxnLst/>
            <a:rect r="r" b="b" t="t" l="l"/>
            <a:pathLst>
              <a:path h="2846038" w="11047523">
                <a:moveTo>
                  <a:pt x="0" y="0"/>
                </a:moveTo>
                <a:lnTo>
                  <a:pt x="11047522" y="0"/>
                </a:lnTo>
                <a:lnTo>
                  <a:pt x="11047522" y="2846038"/>
                </a:lnTo>
                <a:lnTo>
                  <a:pt x="0" y="2846038"/>
                </a:lnTo>
                <a:lnTo>
                  <a:pt x="0" y="0"/>
                </a:lnTo>
                <a:close/>
              </a:path>
            </a:pathLst>
          </a:custGeom>
          <a:blipFill>
            <a:blip r:embed="rId4"/>
            <a:stretch>
              <a:fillRect l="0" t="0" r="0" b="0"/>
            </a:stretch>
          </a:blipFill>
        </p:spPr>
      </p:sp>
      <p:sp>
        <p:nvSpPr>
          <p:cNvPr name="TextBox 10" id="10"/>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1" id="11"/>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2" id="12"/>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661032" y="4640764"/>
            <a:ext cx="10965936" cy="1005473"/>
          </a:xfrm>
          <a:custGeom>
            <a:avLst/>
            <a:gdLst/>
            <a:ahLst/>
            <a:cxnLst/>
            <a:rect r="r" b="b" t="t" l="l"/>
            <a:pathLst>
              <a:path h="1005473" w="10965936">
                <a:moveTo>
                  <a:pt x="0" y="0"/>
                </a:moveTo>
                <a:lnTo>
                  <a:pt x="10965936" y="0"/>
                </a:lnTo>
                <a:lnTo>
                  <a:pt x="10965936" y="1005472"/>
                </a:lnTo>
                <a:lnTo>
                  <a:pt x="0" y="1005472"/>
                </a:lnTo>
                <a:lnTo>
                  <a:pt x="0" y="0"/>
                </a:lnTo>
                <a:close/>
              </a:path>
            </a:pathLst>
          </a:custGeom>
          <a:blipFill>
            <a:blip r:embed="rId4"/>
            <a:stretch>
              <a:fillRect l="0" t="0" r="0" b="0"/>
            </a:stretch>
          </a:blipFill>
        </p:spPr>
      </p:sp>
      <p:sp>
        <p:nvSpPr>
          <p:cNvPr name="TextBox 8" id="8"/>
          <p:cNvSpPr txBox="true"/>
          <p:nvPr/>
        </p:nvSpPr>
        <p:spPr>
          <a:xfrm rot="0">
            <a:off x="673489" y="1543497"/>
            <a:ext cx="1693706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Executing stored procedures in MySQL</a:t>
            </a:r>
          </a:p>
          <a:p>
            <a:pPr algn="l">
              <a:lnSpc>
                <a:spcPts val="6656"/>
              </a:lnSpc>
            </a:pPr>
          </a:p>
        </p:txBody>
      </p:sp>
      <p:sp>
        <p:nvSpPr>
          <p:cNvPr name="TextBox 9" id="9"/>
          <p:cNvSpPr txBox="true"/>
          <p:nvPr/>
        </p:nvSpPr>
        <p:spPr>
          <a:xfrm rot="0">
            <a:off x="1122963" y="2635115"/>
            <a:ext cx="16042075" cy="4438651"/>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The most common way to execute a stored procedure is using SQL commands. In MySQL, we use the CALL command to execute the stored procedure.</a:t>
            </a:r>
          </a:p>
          <a:p>
            <a:pPr algn="just">
              <a:lnSpc>
                <a:spcPts val="5099"/>
              </a:lnSpc>
            </a:pPr>
          </a:p>
          <a:p>
            <a:pPr algn="just">
              <a:lnSpc>
                <a:spcPts val="5099"/>
              </a:lnSpc>
            </a:pPr>
          </a:p>
          <a:p>
            <a:pPr algn="just">
              <a:lnSpc>
                <a:spcPts val="5099"/>
              </a:lnSpc>
            </a:pPr>
          </a:p>
          <a:p>
            <a:pPr algn="just">
              <a:lnSpc>
                <a:spcPts val="5099"/>
              </a:lnSpc>
            </a:pPr>
            <a:r>
              <a:rPr lang="en-US" sz="2999">
                <a:solidFill>
                  <a:srgbClr val="FFFFFF"/>
                </a:solidFill>
                <a:latin typeface="Poppins"/>
                <a:ea typeface="Poppins"/>
                <a:cs typeface="Poppins"/>
                <a:sym typeface="Poppins"/>
              </a:rPr>
              <a:t>Using the defined GetEmployeeDetails procedure, the execution query would look like this:</a:t>
            </a:r>
          </a:p>
        </p:txBody>
      </p:sp>
      <p:sp>
        <p:nvSpPr>
          <p:cNvPr name="Freeform 10" id="10"/>
          <p:cNvSpPr/>
          <p:nvPr/>
        </p:nvSpPr>
        <p:spPr>
          <a:xfrm flipH="false" flipV="false" rot="0">
            <a:off x="3988345" y="7378566"/>
            <a:ext cx="10996730" cy="1166556"/>
          </a:xfrm>
          <a:custGeom>
            <a:avLst/>
            <a:gdLst/>
            <a:ahLst/>
            <a:cxnLst/>
            <a:rect r="r" b="b" t="t" l="l"/>
            <a:pathLst>
              <a:path h="1166556" w="10996730">
                <a:moveTo>
                  <a:pt x="0" y="0"/>
                </a:moveTo>
                <a:lnTo>
                  <a:pt x="10996730" y="0"/>
                </a:lnTo>
                <a:lnTo>
                  <a:pt x="10996730" y="1166556"/>
                </a:lnTo>
                <a:lnTo>
                  <a:pt x="0" y="1166556"/>
                </a:lnTo>
                <a:lnTo>
                  <a:pt x="0" y="0"/>
                </a:lnTo>
                <a:close/>
              </a:path>
            </a:pathLst>
          </a:custGeom>
          <a:blipFill>
            <a:blip r:embed="rId5"/>
            <a:stretch>
              <a:fillRect l="0" t="0" r="0" b="0"/>
            </a:stretch>
          </a:blipFill>
        </p:spPr>
      </p:sp>
      <p:sp>
        <p:nvSpPr>
          <p:cNvPr name="TextBox 11" id="11"/>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2" id="12"/>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3" id="13"/>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73489" y="1543497"/>
            <a:ext cx="1693706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Common Uses for Stored Procedures</a:t>
            </a:r>
          </a:p>
          <a:p>
            <a:pPr algn="l">
              <a:lnSpc>
                <a:spcPts val="6656"/>
              </a:lnSpc>
            </a:pPr>
          </a:p>
        </p:txBody>
      </p:sp>
      <p:sp>
        <p:nvSpPr>
          <p:cNvPr name="TextBox 8" id="8"/>
          <p:cNvSpPr txBox="true"/>
          <p:nvPr/>
        </p:nvSpPr>
        <p:spPr>
          <a:xfrm rot="0">
            <a:off x="1122963" y="2635115"/>
            <a:ext cx="16042075" cy="1885951"/>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SQL stored procedures are useful in scenarios where repetitive complex tasks are required.</a:t>
            </a:r>
            <a:r>
              <a:rPr lang="en-US" sz="2999">
                <a:solidFill>
                  <a:srgbClr val="FFFFFF"/>
                </a:solidFill>
                <a:latin typeface="Poppins"/>
                <a:ea typeface="Poppins"/>
                <a:cs typeface="Poppins"/>
                <a:sym typeface="Poppins"/>
              </a:rPr>
              <a:t> The following are real-world applications of stored procedures in data management and business operations. </a:t>
            </a:r>
          </a:p>
        </p:txBody>
      </p:sp>
      <p:sp>
        <p:nvSpPr>
          <p:cNvPr name="TextBox 9" id="9"/>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0" id="10"/>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1" id="11"/>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897559" y="6941172"/>
            <a:ext cx="6788546" cy="3053873"/>
          </a:xfrm>
          <a:custGeom>
            <a:avLst/>
            <a:gdLst/>
            <a:ahLst/>
            <a:cxnLst/>
            <a:rect r="r" b="b" t="t" l="l"/>
            <a:pathLst>
              <a:path h="3053873" w="6788546">
                <a:moveTo>
                  <a:pt x="0" y="0"/>
                </a:moveTo>
                <a:lnTo>
                  <a:pt x="6788546" y="0"/>
                </a:lnTo>
                <a:lnTo>
                  <a:pt x="6788546" y="3053873"/>
                </a:lnTo>
                <a:lnTo>
                  <a:pt x="0" y="3053873"/>
                </a:lnTo>
                <a:lnTo>
                  <a:pt x="0" y="0"/>
                </a:lnTo>
                <a:close/>
              </a:path>
            </a:pathLst>
          </a:custGeom>
          <a:blipFill>
            <a:blip r:embed="rId4"/>
            <a:stretch>
              <a:fillRect l="0" t="0" r="0" b="0"/>
            </a:stretch>
          </a:blipFill>
        </p:spPr>
      </p:sp>
      <p:sp>
        <p:nvSpPr>
          <p:cNvPr name="TextBox 8" id="8"/>
          <p:cNvSpPr txBox="true"/>
          <p:nvPr/>
        </p:nvSpPr>
        <p:spPr>
          <a:xfrm rot="0">
            <a:off x="673489" y="1543497"/>
            <a:ext cx="16937067" cy="26065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Data validation and integrity enforcement</a:t>
            </a:r>
          </a:p>
          <a:p>
            <a:pPr algn="l">
              <a:lnSpc>
                <a:spcPts val="6656"/>
              </a:lnSpc>
            </a:pPr>
          </a:p>
        </p:txBody>
      </p:sp>
      <p:sp>
        <p:nvSpPr>
          <p:cNvPr name="TextBox 9" id="9"/>
          <p:cNvSpPr txBox="true"/>
          <p:nvPr/>
        </p:nvSpPr>
        <p:spPr>
          <a:xfrm rot="0">
            <a:off x="1063092" y="3455021"/>
            <a:ext cx="16042075" cy="3162301"/>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Stored procedures can be used to validate data before update or insertion. In the example below, a stored procedure checks that a customer’s email is unique</a:t>
            </a:r>
            <a:r>
              <a:rPr lang="en-US" sz="2999">
                <a:solidFill>
                  <a:srgbClr val="FFFFFF"/>
                </a:solidFill>
                <a:latin typeface="Poppins"/>
                <a:ea typeface="Poppins"/>
                <a:cs typeface="Poppins"/>
                <a:sym typeface="Poppins"/>
              </a:rPr>
              <a:t> before inserting a new record into the Customers table, ensuring data consistency. This centralizes validation logic within the database, reducing redundancy and ensuring uniform enforcement across different applications.</a:t>
            </a:r>
          </a:p>
        </p:txBody>
      </p:sp>
      <p:sp>
        <p:nvSpPr>
          <p:cNvPr name="TextBox 10" id="10"/>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1" id="11"/>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2" id="12"/>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7038009" y="4390436"/>
            <a:ext cx="9620467" cy="5507269"/>
          </a:xfrm>
          <a:custGeom>
            <a:avLst/>
            <a:gdLst/>
            <a:ahLst/>
            <a:cxnLst/>
            <a:rect r="r" b="b" t="t" l="l"/>
            <a:pathLst>
              <a:path h="5507269" w="9620467">
                <a:moveTo>
                  <a:pt x="0" y="0"/>
                </a:moveTo>
                <a:lnTo>
                  <a:pt x="9620466" y="0"/>
                </a:lnTo>
                <a:lnTo>
                  <a:pt x="9620466" y="5507269"/>
                </a:lnTo>
                <a:lnTo>
                  <a:pt x="0" y="5507269"/>
                </a:lnTo>
                <a:lnTo>
                  <a:pt x="0" y="0"/>
                </a:lnTo>
                <a:close/>
              </a:path>
            </a:pathLst>
          </a:custGeom>
          <a:blipFill>
            <a:blip r:embed="rId4"/>
            <a:stretch>
              <a:fillRect l="0" t="0" r="0" b="0"/>
            </a:stretch>
          </a:blipFill>
        </p:spPr>
      </p:sp>
      <p:sp>
        <p:nvSpPr>
          <p:cNvPr name="TextBox 8" id="8"/>
          <p:cNvSpPr txBox="true"/>
          <p:nvPr/>
        </p:nvSpPr>
        <p:spPr>
          <a:xfrm rot="0">
            <a:off x="673489" y="1543497"/>
            <a:ext cx="1693706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Transaction management</a:t>
            </a:r>
          </a:p>
          <a:p>
            <a:pPr algn="l">
              <a:lnSpc>
                <a:spcPts val="6656"/>
              </a:lnSpc>
            </a:pPr>
          </a:p>
        </p:txBody>
      </p:sp>
      <p:sp>
        <p:nvSpPr>
          <p:cNvPr name="TextBox 9" id="9"/>
          <p:cNvSpPr txBox="true"/>
          <p:nvPr/>
        </p:nvSpPr>
        <p:spPr>
          <a:xfrm rot="0">
            <a:off x="1120985" y="2402029"/>
            <a:ext cx="16042075" cy="2524126"/>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By using stored procedures, you can ensure multiple operations are executed as a single transaction. For example, in a banking system, a stored procedure can handle</a:t>
            </a:r>
            <a:r>
              <a:rPr lang="en-US" sz="2999">
                <a:solidFill>
                  <a:srgbClr val="FFFFFF"/>
                </a:solidFill>
                <a:latin typeface="Poppins"/>
                <a:ea typeface="Poppins"/>
                <a:cs typeface="Poppins"/>
                <a:sym typeface="Poppins"/>
              </a:rPr>
              <a:t> both debit and credit actions in a funds transfer, making sure both actions succeed or fail together.</a:t>
            </a:r>
          </a:p>
        </p:txBody>
      </p:sp>
      <p:sp>
        <p:nvSpPr>
          <p:cNvPr name="TextBox 10" id="10"/>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1" id="11"/>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2" id="12"/>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4911102" y="4787070"/>
            <a:ext cx="11023902" cy="4779594"/>
          </a:xfrm>
          <a:custGeom>
            <a:avLst/>
            <a:gdLst/>
            <a:ahLst/>
            <a:cxnLst/>
            <a:rect r="r" b="b" t="t" l="l"/>
            <a:pathLst>
              <a:path h="4779594" w="11023902">
                <a:moveTo>
                  <a:pt x="0" y="0"/>
                </a:moveTo>
                <a:lnTo>
                  <a:pt x="11023902" y="0"/>
                </a:lnTo>
                <a:lnTo>
                  <a:pt x="11023902" y="4779593"/>
                </a:lnTo>
                <a:lnTo>
                  <a:pt x="0" y="4779593"/>
                </a:lnTo>
                <a:lnTo>
                  <a:pt x="0" y="0"/>
                </a:lnTo>
                <a:close/>
              </a:path>
            </a:pathLst>
          </a:custGeom>
          <a:blipFill>
            <a:blip r:embed="rId4"/>
            <a:stretch>
              <a:fillRect l="0" t="0" r="0" b="0"/>
            </a:stretch>
          </a:blipFill>
        </p:spPr>
      </p:sp>
      <p:sp>
        <p:nvSpPr>
          <p:cNvPr name="TextBox 8" id="8"/>
          <p:cNvSpPr txBox="true"/>
          <p:nvPr/>
        </p:nvSpPr>
        <p:spPr>
          <a:xfrm rot="0">
            <a:off x="673489" y="1543497"/>
            <a:ext cx="1693706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Access control and data security</a:t>
            </a:r>
          </a:p>
          <a:p>
            <a:pPr algn="l">
              <a:lnSpc>
                <a:spcPts val="6656"/>
              </a:lnSpc>
            </a:pPr>
          </a:p>
        </p:txBody>
      </p:sp>
      <p:sp>
        <p:nvSpPr>
          <p:cNvPr name="TextBox 9" id="9"/>
          <p:cNvSpPr txBox="true"/>
          <p:nvPr/>
        </p:nvSpPr>
        <p:spPr>
          <a:xfrm rot="0">
            <a:off x="1120985" y="2402029"/>
            <a:ext cx="16042075" cy="2524126"/>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You can also use SQL stored to control data access to sensitive information. For example, a stored procedure can limi</a:t>
            </a:r>
            <a:r>
              <a:rPr lang="en-US" sz="2999">
                <a:solidFill>
                  <a:srgbClr val="FFFFFF"/>
                </a:solidFill>
                <a:latin typeface="Poppins"/>
                <a:ea typeface="Poppins"/>
                <a:cs typeface="Poppins"/>
                <a:sym typeface="Poppins"/>
              </a:rPr>
              <a:t>t direct table access by allowing users to call a procedure that retrieves only relevant fields, such as account balances, without transaction details.</a:t>
            </a:r>
          </a:p>
        </p:txBody>
      </p:sp>
      <p:sp>
        <p:nvSpPr>
          <p:cNvPr name="TextBox 10" id="10"/>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1" id="11"/>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2" id="12"/>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4096598" y="5230955"/>
            <a:ext cx="10969370" cy="4362639"/>
          </a:xfrm>
          <a:custGeom>
            <a:avLst/>
            <a:gdLst/>
            <a:ahLst/>
            <a:cxnLst/>
            <a:rect r="r" b="b" t="t" l="l"/>
            <a:pathLst>
              <a:path h="4362639" w="10969370">
                <a:moveTo>
                  <a:pt x="0" y="0"/>
                </a:moveTo>
                <a:lnTo>
                  <a:pt x="10969370" y="0"/>
                </a:lnTo>
                <a:lnTo>
                  <a:pt x="10969370" y="4362639"/>
                </a:lnTo>
                <a:lnTo>
                  <a:pt x="0" y="4362639"/>
                </a:lnTo>
                <a:lnTo>
                  <a:pt x="0" y="0"/>
                </a:lnTo>
                <a:close/>
              </a:path>
            </a:pathLst>
          </a:custGeom>
          <a:blipFill>
            <a:blip r:embed="rId4"/>
            <a:stretch>
              <a:fillRect l="0" t="0" r="0" b="0"/>
            </a:stretch>
          </a:blipFill>
        </p:spPr>
      </p:sp>
      <p:sp>
        <p:nvSpPr>
          <p:cNvPr name="TextBox 8" id="8"/>
          <p:cNvSpPr txBox="true"/>
          <p:nvPr/>
        </p:nvSpPr>
        <p:spPr>
          <a:xfrm rot="0">
            <a:off x="673489" y="1543497"/>
            <a:ext cx="1693706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Data migration and ETL processes</a:t>
            </a:r>
          </a:p>
          <a:p>
            <a:pPr algn="l">
              <a:lnSpc>
                <a:spcPts val="6656"/>
              </a:lnSpc>
            </a:pPr>
          </a:p>
        </p:txBody>
      </p:sp>
      <p:sp>
        <p:nvSpPr>
          <p:cNvPr name="TextBox 9" id="9"/>
          <p:cNvSpPr txBox="true"/>
          <p:nvPr/>
        </p:nvSpPr>
        <p:spPr>
          <a:xfrm rot="0">
            <a:off x="1120985" y="2402029"/>
            <a:ext cx="16042075" cy="2524126"/>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Stored procedures are also used to load, transform, and migrate data between systems. A stored procedure can automa</a:t>
            </a:r>
            <a:r>
              <a:rPr lang="en-US" sz="2999">
                <a:solidFill>
                  <a:srgbClr val="FFFFFF"/>
                </a:solidFill>
                <a:latin typeface="Poppins"/>
                <a:ea typeface="Poppins"/>
                <a:cs typeface="Poppins"/>
                <a:sym typeface="Poppins"/>
              </a:rPr>
              <a:t>te data extraction from a source database, transform it as needed, and insert it into a target table, simplifying data integration for reporting or analysis.</a:t>
            </a:r>
          </a:p>
        </p:txBody>
      </p:sp>
      <p:sp>
        <p:nvSpPr>
          <p:cNvPr name="TextBox 10" id="10"/>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1" id="11"/>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2" id="12"/>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73489" y="1543497"/>
            <a:ext cx="1693706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Best Practices for Stored Procedures</a:t>
            </a:r>
          </a:p>
          <a:p>
            <a:pPr algn="l">
              <a:lnSpc>
                <a:spcPts val="6656"/>
              </a:lnSpc>
            </a:pPr>
          </a:p>
        </p:txBody>
      </p:sp>
      <p:sp>
        <p:nvSpPr>
          <p:cNvPr name="TextBox 8" id="8"/>
          <p:cNvSpPr txBox="true"/>
          <p:nvPr/>
        </p:nvSpPr>
        <p:spPr>
          <a:xfrm rot="0">
            <a:off x="1120985" y="2402029"/>
            <a:ext cx="16042075" cy="6353176"/>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Writing efficient and maintainable stored procedures ensures your database performs optimally. The following are the tips for writing stored procedures for your SQL databases.</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Use Consistent Naming Conventions: To make stored procedures easy to identify and understand, us</a:t>
            </a:r>
            <a:r>
              <a:rPr lang="en-US" sz="2999">
                <a:solidFill>
                  <a:srgbClr val="FFFFFF"/>
                </a:solidFill>
                <a:latin typeface="Poppins"/>
                <a:ea typeface="Poppins"/>
                <a:cs typeface="Poppins"/>
                <a:sym typeface="Poppins"/>
              </a:rPr>
              <a:t>e a consistent and descriptive naming format. Also, avoid the sp_ Prefix in SQL Server reserved for system procedures to prevent potential conflicts and performance issues.</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Implement Error Handling: Wrap SQL statements in TRY...CATCH blocks to catch and handle errors and maintain data integrity. </a:t>
            </a:r>
          </a:p>
          <a:p>
            <a:pPr algn="just">
              <a:lnSpc>
                <a:spcPts val="5099"/>
              </a:lnSpc>
            </a:pPr>
          </a:p>
        </p:txBody>
      </p:sp>
      <p:sp>
        <p:nvSpPr>
          <p:cNvPr name="TextBox 9" id="9"/>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0" id="10"/>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1" id="11"/>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73489" y="1543497"/>
            <a:ext cx="16937067" cy="17683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Best Practices for Stored Procedures</a:t>
            </a:r>
          </a:p>
          <a:p>
            <a:pPr algn="l">
              <a:lnSpc>
                <a:spcPts val="6656"/>
              </a:lnSpc>
            </a:pPr>
          </a:p>
        </p:txBody>
      </p:sp>
      <p:sp>
        <p:nvSpPr>
          <p:cNvPr name="TextBox 8" id="8"/>
          <p:cNvSpPr txBox="true"/>
          <p:nvPr/>
        </p:nvSpPr>
        <p:spPr>
          <a:xfrm rot="0">
            <a:off x="1120985" y="2402029"/>
            <a:ext cx="16042075" cy="6991351"/>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Writing efficient and maintainable stored procedures ensures your database performs optimally. The following are the tips for writing stored procedures for your SQL databases.</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Opt</a:t>
            </a:r>
            <a:r>
              <a:rPr lang="en-US" sz="2999">
                <a:solidFill>
                  <a:srgbClr val="FFFFFF"/>
                </a:solidFill>
                <a:latin typeface="Poppins"/>
                <a:ea typeface="Poppins"/>
                <a:cs typeface="Poppins"/>
                <a:sym typeface="Poppins"/>
              </a:rPr>
              <a:t>imize for Performance: Minimize the use of cursors as they can be slow and resource-intensiv</a:t>
            </a:r>
            <a:r>
              <a:rPr lang="en-US" sz="2999">
                <a:solidFill>
                  <a:srgbClr val="FFFFFF"/>
                </a:solidFill>
                <a:latin typeface="Poppins"/>
                <a:ea typeface="Poppins"/>
                <a:cs typeface="Poppins"/>
                <a:sym typeface="Poppins"/>
              </a:rPr>
              <a:t>e. Instead, try using set-based operations, which are generally more efficient. Also, index the frequently used columns and avoid complex joins in large tables to reduce memory overhead and improve efficiency.</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Parameterize Stored Procedures: Use parameters instead of hardcoded values to allow you to pass dynamic values into your procedure, making it more flexible and reusable.</a:t>
            </a:r>
          </a:p>
          <a:p>
            <a:pPr algn="just">
              <a:lnSpc>
                <a:spcPts val="5099"/>
              </a:lnSpc>
            </a:pPr>
          </a:p>
        </p:txBody>
      </p:sp>
      <p:sp>
        <p:nvSpPr>
          <p:cNvPr name="TextBox 9" id="9"/>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0" id="10"/>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1" id="11"/>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73489" y="1543497"/>
            <a:ext cx="16937067" cy="26065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CRUD Operations using Stored Procedures with PHP and MySQL (via XAMPP)</a:t>
            </a:r>
          </a:p>
        </p:txBody>
      </p:sp>
      <p:sp>
        <p:nvSpPr>
          <p:cNvPr name="TextBox 8" id="8"/>
          <p:cNvSpPr txBox="true"/>
          <p:nvPr/>
        </p:nvSpPr>
        <p:spPr>
          <a:xfrm rot="0">
            <a:off x="1120985" y="4490056"/>
            <a:ext cx="16042075" cy="4438651"/>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Learning Objectives:</a:t>
            </a:r>
          </a:p>
          <a:p>
            <a:pPr algn="just">
              <a:lnSpc>
                <a:spcPts val="5099"/>
              </a:lnSpc>
            </a:pPr>
            <a:r>
              <a:rPr lang="en-US" sz="2999">
                <a:solidFill>
                  <a:srgbClr val="FFFFFF"/>
                </a:solidFill>
                <a:latin typeface="Poppins"/>
                <a:ea typeface="Poppins"/>
                <a:cs typeface="Poppins"/>
                <a:sym typeface="Poppins"/>
              </a:rPr>
              <a:t>By the end of this lesson, students will be able to:</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Understand what stored procedures are and why they are used.</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Use PHP to interact with stored procedures in a MySQL database.</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Implement Create, Read, Update, and Delete (CRUD) operations.</a:t>
            </a:r>
          </a:p>
          <a:p>
            <a:pPr algn="just" marL="647695" indent="-323848" lvl="1">
              <a:lnSpc>
                <a:spcPts val="5099"/>
              </a:lnSpc>
              <a:buFont typeface="Arial"/>
              <a:buChar char="•"/>
            </a:pPr>
            <a:r>
              <a:rPr lang="en-US" sz="2999">
                <a:solidFill>
                  <a:srgbClr val="FFFFFF"/>
                </a:solidFill>
                <a:latin typeface="Poppins"/>
                <a:ea typeface="Poppins"/>
                <a:cs typeface="Poppins"/>
                <a:sym typeface="Poppins"/>
              </a:rPr>
              <a:t>Build a web interface using HTML and CSS connected to stored procedures.</a:t>
            </a:r>
          </a:p>
          <a:p>
            <a:pPr algn="just" marL="647695" indent="-323848" lvl="1">
              <a:lnSpc>
                <a:spcPts val="5099"/>
              </a:lnSpc>
              <a:buFont typeface="Arial"/>
              <a:buChar char="•"/>
            </a:pPr>
          </a:p>
        </p:txBody>
      </p:sp>
      <p:sp>
        <p:nvSpPr>
          <p:cNvPr name="TextBox 9" id="9"/>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0" id="10"/>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1" id="11"/>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73489" y="1543497"/>
            <a:ext cx="16937067" cy="9301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Pros of Using Stored Procedures:</a:t>
            </a:r>
          </a:p>
        </p:txBody>
      </p:sp>
      <p:sp>
        <p:nvSpPr>
          <p:cNvPr name="TextBox 8" id="8"/>
          <p:cNvSpPr txBox="true"/>
          <p:nvPr/>
        </p:nvSpPr>
        <p:spPr>
          <a:xfrm rot="0">
            <a:off x="1063092" y="2635573"/>
            <a:ext cx="16042075" cy="3800476"/>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Security – Encapsulates business logic and hides raw table acc</a:t>
            </a:r>
            <a:r>
              <a:rPr lang="en-US" sz="2999">
                <a:solidFill>
                  <a:srgbClr val="FFFFFF"/>
                </a:solidFill>
                <a:latin typeface="Poppins"/>
                <a:ea typeface="Poppins"/>
                <a:cs typeface="Poppins"/>
                <a:sym typeface="Poppins"/>
              </a:rPr>
              <a:t>ess</a:t>
            </a:r>
          </a:p>
          <a:p>
            <a:pPr algn="just">
              <a:lnSpc>
                <a:spcPts val="5099"/>
              </a:lnSpc>
            </a:pPr>
            <a:r>
              <a:rPr lang="en-US" sz="2999">
                <a:solidFill>
                  <a:srgbClr val="FFFFFF"/>
                </a:solidFill>
                <a:latin typeface="Poppins"/>
                <a:ea typeface="Poppins"/>
                <a:cs typeface="Poppins"/>
                <a:sym typeface="Poppins"/>
              </a:rPr>
              <a:t>Stored procedures allow developers to control how the database is accessed. Instead of giving users or applications direct access to tables, you can allow them to call procedures. This hides the underlying data structure and helps enforce access rules, reducing the risk of SQL injection and unauthorized data manipulation.</a:t>
            </a:r>
          </a:p>
          <a:p>
            <a:pPr algn="just" marL="647695" indent="-323848" lvl="1">
              <a:lnSpc>
                <a:spcPts val="5099"/>
              </a:lnSpc>
              <a:buFont typeface="Arial"/>
              <a:buChar char="•"/>
            </a:pPr>
          </a:p>
        </p:txBody>
      </p:sp>
      <p:sp>
        <p:nvSpPr>
          <p:cNvPr name="TextBox 9" id="9"/>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0" id="10"/>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1" id="11"/>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73489" y="1543497"/>
            <a:ext cx="16937067" cy="9301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Pros of Using Stored Procedures:</a:t>
            </a:r>
          </a:p>
        </p:txBody>
      </p:sp>
      <p:sp>
        <p:nvSpPr>
          <p:cNvPr name="TextBox 8" id="8"/>
          <p:cNvSpPr txBox="true"/>
          <p:nvPr/>
        </p:nvSpPr>
        <p:spPr>
          <a:xfrm rot="0">
            <a:off x="1063092" y="2635573"/>
            <a:ext cx="16042075" cy="3800476"/>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Performance – Runs faster as it's precompiled in the databas</a:t>
            </a:r>
            <a:r>
              <a:rPr lang="en-US" sz="2999">
                <a:solidFill>
                  <a:srgbClr val="FFFFFF"/>
                </a:solidFill>
                <a:latin typeface="Poppins"/>
                <a:ea typeface="Poppins"/>
                <a:cs typeface="Poppins"/>
                <a:sym typeface="Poppins"/>
              </a:rPr>
              <a:t>e</a:t>
            </a:r>
          </a:p>
          <a:p>
            <a:pPr algn="just">
              <a:lnSpc>
                <a:spcPts val="5099"/>
              </a:lnSpc>
            </a:pPr>
            <a:r>
              <a:rPr lang="en-US" sz="2999">
                <a:solidFill>
                  <a:srgbClr val="FFFFFF"/>
                </a:solidFill>
                <a:latin typeface="Poppins"/>
                <a:ea typeface="Poppins"/>
                <a:cs typeface="Poppins"/>
                <a:sym typeface="Poppins"/>
              </a:rPr>
              <a:t>Stored procedures are parsed and optimized by the database engine when they are first created, not each time they are run. This means they execute more efficiently, especially in repetitive or complex operations. The execution plan is already available, which saves processing time</a:t>
            </a:r>
          </a:p>
          <a:p>
            <a:pPr algn="just">
              <a:lnSpc>
                <a:spcPts val="5099"/>
              </a:lnSpc>
            </a:pPr>
          </a:p>
        </p:txBody>
      </p:sp>
      <p:sp>
        <p:nvSpPr>
          <p:cNvPr name="TextBox 9" id="9"/>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0" id="10"/>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1" id="11"/>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73489" y="1543497"/>
            <a:ext cx="16937067" cy="9301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Pros of Using Stored Procedures:</a:t>
            </a:r>
          </a:p>
        </p:txBody>
      </p:sp>
      <p:sp>
        <p:nvSpPr>
          <p:cNvPr name="TextBox 8" id="8"/>
          <p:cNvSpPr txBox="true"/>
          <p:nvPr/>
        </p:nvSpPr>
        <p:spPr>
          <a:xfrm rot="0">
            <a:off x="1063092" y="2635573"/>
            <a:ext cx="16042075" cy="3800476"/>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Reusability – Reuse logic across multiple apps or pages</a:t>
            </a:r>
          </a:p>
          <a:p>
            <a:pPr algn="just">
              <a:lnSpc>
                <a:spcPts val="5099"/>
              </a:lnSpc>
            </a:pPr>
            <a:r>
              <a:rPr lang="en-US" sz="2999">
                <a:solidFill>
                  <a:srgbClr val="FFFFFF"/>
                </a:solidFill>
                <a:latin typeface="Poppins"/>
                <a:ea typeface="Poppins"/>
                <a:cs typeface="Poppins"/>
                <a:sym typeface="Poppins"/>
              </a:rPr>
              <a:t>You can write a s</a:t>
            </a:r>
            <a:r>
              <a:rPr lang="en-US" sz="2999">
                <a:solidFill>
                  <a:srgbClr val="FFFFFF"/>
                </a:solidFill>
                <a:latin typeface="Poppins"/>
                <a:ea typeface="Poppins"/>
                <a:cs typeface="Poppins"/>
                <a:sym typeface="Poppins"/>
              </a:rPr>
              <a:t>tored procedure once and call it from different parts of your system, whether it's a web app, desktop app, or reporting tool. This ensures consistency in logic (like calculations or data validation) and avoids duplicating code.</a:t>
            </a:r>
          </a:p>
          <a:p>
            <a:pPr algn="just">
              <a:lnSpc>
                <a:spcPts val="5099"/>
              </a:lnSpc>
            </a:pPr>
          </a:p>
        </p:txBody>
      </p:sp>
      <p:sp>
        <p:nvSpPr>
          <p:cNvPr name="TextBox 9" id="9"/>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0" id="10"/>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1" id="11"/>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73489" y="1543497"/>
            <a:ext cx="16937067" cy="9301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Pros of Using Stored Procedures:</a:t>
            </a:r>
          </a:p>
        </p:txBody>
      </p:sp>
      <p:sp>
        <p:nvSpPr>
          <p:cNvPr name="TextBox 8" id="8"/>
          <p:cNvSpPr txBox="true"/>
          <p:nvPr/>
        </p:nvSpPr>
        <p:spPr>
          <a:xfrm rot="0">
            <a:off x="1063092" y="2635573"/>
            <a:ext cx="16042075" cy="3162301"/>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Maintainability – You only need to change the logic in one place</a:t>
            </a:r>
          </a:p>
          <a:p>
            <a:pPr algn="just">
              <a:lnSpc>
                <a:spcPts val="5099"/>
              </a:lnSpc>
            </a:pPr>
            <a:r>
              <a:rPr lang="en-US" sz="2999">
                <a:solidFill>
                  <a:srgbClr val="FFFFFF"/>
                </a:solidFill>
                <a:latin typeface="Poppins"/>
                <a:ea typeface="Poppins"/>
                <a:cs typeface="Poppins"/>
                <a:sym typeface="Poppins"/>
              </a:rPr>
              <a:t>If business rules change (e.g., tax computation or approval process), you can simply update the s</a:t>
            </a:r>
            <a:r>
              <a:rPr lang="en-US" sz="2999">
                <a:solidFill>
                  <a:srgbClr val="FFFFFF"/>
                </a:solidFill>
                <a:latin typeface="Poppins"/>
                <a:ea typeface="Poppins"/>
                <a:cs typeface="Poppins"/>
                <a:sym typeface="Poppins"/>
              </a:rPr>
              <a:t>tored procedure, and all applications calling it will automatically use the new logic. This makes debugging and updating faster and easier.</a:t>
            </a:r>
          </a:p>
          <a:p>
            <a:pPr algn="just">
              <a:lnSpc>
                <a:spcPts val="5099"/>
              </a:lnSpc>
            </a:pPr>
          </a:p>
        </p:txBody>
      </p:sp>
      <p:sp>
        <p:nvSpPr>
          <p:cNvPr name="TextBox 9" id="9"/>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0" id="10"/>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1" id="11"/>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73489" y="1543497"/>
            <a:ext cx="16937067" cy="9301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Cons of Using Stored Procedures:</a:t>
            </a:r>
          </a:p>
        </p:txBody>
      </p:sp>
      <p:sp>
        <p:nvSpPr>
          <p:cNvPr name="TextBox 8" id="8"/>
          <p:cNvSpPr txBox="true"/>
          <p:nvPr/>
        </p:nvSpPr>
        <p:spPr>
          <a:xfrm rot="0">
            <a:off x="1063092" y="2635573"/>
            <a:ext cx="16042075" cy="4438651"/>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Complex Debugging – Debugging stored procedures can be harder than PHP scripts</a:t>
            </a:r>
          </a:p>
          <a:p>
            <a:pPr algn="just">
              <a:lnSpc>
                <a:spcPts val="5099"/>
              </a:lnSpc>
            </a:pPr>
            <a:r>
              <a:rPr lang="en-US" sz="2999">
                <a:solidFill>
                  <a:srgbClr val="FFFFFF"/>
                </a:solidFill>
                <a:latin typeface="Poppins"/>
                <a:ea typeface="Poppins"/>
                <a:cs typeface="Poppins"/>
                <a:sym typeface="Poppins"/>
              </a:rPr>
              <a:t>Unlike PHP or other high-level languages that offer rich debugging tools (like breakpoints or step-through debugging), s</a:t>
            </a:r>
            <a:r>
              <a:rPr lang="en-US" sz="2999">
                <a:solidFill>
                  <a:srgbClr val="FFFFFF"/>
                </a:solidFill>
                <a:latin typeface="Poppins"/>
                <a:ea typeface="Poppins"/>
                <a:cs typeface="Poppins"/>
                <a:sym typeface="Poppins"/>
              </a:rPr>
              <a:t>tored procedures often require manual testing, printing debug info with SELECT or RAISE NOTICE, and may not give clear error messages. This makes identifying and fixing issues more challenging.</a:t>
            </a:r>
          </a:p>
          <a:p>
            <a:pPr algn="just">
              <a:lnSpc>
                <a:spcPts val="5099"/>
              </a:lnSpc>
            </a:pPr>
          </a:p>
        </p:txBody>
      </p:sp>
      <p:sp>
        <p:nvSpPr>
          <p:cNvPr name="TextBox 9" id="9"/>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0" id="10"/>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1" id="11"/>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73489" y="1543497"/>
            <a:ext cx="16937067" cy="9301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Cons of Using Stored Procedures:</a:t>
            </a:r>
          </a:p>
        </p:txBody>
      </p:sp>
      <p:sp>
        <p:nvSpPr>
          <p:cNvPr name="TextBox 8" id="8"/>
          <p:cNvSpPr txBox="true"/>
          <p:nvPr/>
        </p:nvSpPr>
        <p:spPr>
          <a:xfrm rot="0">
            <a:off x="1063092" y="2635573"/>
            <a:ext cx="16042075" cy="3162301"/>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Less Portability – Not easily portable between different database systems</a:t>
            </a:r>
          </a:p>
          <a:p>
            <a:pPr algn="just">
              <a:lnSpc>
                <a:spcPts val="5099"/>
              </a:lnSpc>
            </a:pPr>
            <a:r>
              <a:rPr lang="en-US" sz="2999">
                <a:solidFill>
                  <a:srgbClr val="FFFFFF"/>
                </a:solidFill>
                <a:latin typeface="Poppins"/>
                <a:ea typeface="Poppins"/>
                <a:cs typeface="Poppins"/>
                <a:sym typeface="Poppins"/>
              </a:rPr>
              <a:t>Stored procedures are usually written in a database-specific language (like T-SQL for SQL Server </a:t>
            </a:r>
            <a:r>
              <a:rPr lang="en-US" sz="2999">
                <a:solidFill>
                  <a:srgbClr val="FFFFFF"/>
                </a:solidFill>
                <a:latin typeface="Poppins"/>
                <a:ea typeface="Poppins"/>
                <a:cs typeface="Poppins"/>
                <a:sym typeface="Poppins"/>
              </a:rPr>
              <a:t>or PL/pgSQL for PostgreSQL). This means code written for one system may not run on another without rewriting, making migration harder.</a:t>
            </a:r>
          </a:p>
          <a:p>
            <a:pPr algn="just">
              <a:lnSpc>
                <a:spcPts val="5099"/>
              </a:lnSpc>
            </a:pPr>
          </a:p>
        </p:txBody>
      </p:sp>
      <p:sp>
        <p:nvSpPr>
          <p:cNvPr name="TextBox 9" id="9"/>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0" id="10"/>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1" id="11"/>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73489" y="1543497"/>
            <a:ext cx="16937067" cy="9301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Cons of Using Stored Procedures:</a:t>
            </a:r>
          </a:p>
        </p:txBody>
      </p:sp>
      <p:sp>
        <p:nvSpPr>
          <p:cNvPr name="TextBox 8" id="8"/>
          <p:cNvSpPr txBox="true"/>
          <p:nvPr/>
        </p:nvSpPr>
        <p:spPr>
          <a:xfrm rot="0">
            <a:off x="1063092" y="2635573"/>
            <a:ext cx="16042075" cy="3800476"/>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Requires DB Knowledge – Developers need to understand SQL in depth</a:t>
            </a:r>
          </a:p>
          <a:p>
            <a:pPr algn="just">
              <a:lnSpc>
                <a:spcPts val="5099"/>
              </a:lnSpc>
            </a:pPr>
            <a:r>
              <a:rPr lang="en-US" sz="2999">
                <a:solidFill>
                  <a:srgbClr val="FFFFFF"/>
                </a:solidFill>
                <a:latin typeface="Poppins"/>
                <a:ea typeface="Poppins"/>
                <a:cs typeface="Poppins"/>
                <a:sym typeface="Poppins"/>
              </a:rPr>
              <a:t>To effectively write and maintain stored procedures, a developer must be proficient in SQL and database-specific features. This might be a hurdle f</a:t>
            </a:r>
            <a:r>
              <a:rPr lang="en-US" sz="2999">
                <a:solidFill>
                  <a:srgbClr val="FFFFFF"/>
                </a:solidFill>
                <a:latin typeface="Poppins"/>
                <a:ea typeface="Poppins"/>
                <a:cs typeface="Poppins"/>
                <a:sym typeface="Poppins"/>
              </a:rPr>
              <a:t>or front-end or full-stack developers who are more familiar with application logic than with database internals.</a:t>
            </a:r>
          </a:p>
          <a:p>
            <a:pPr algn="just">
              <a:lnSpc>
                <a:spcPts val="5099"/>
              </a:lnSpc>
            </a:pPr>
          </a:p>
        </p:txBody>
      </p:sp>
      <p:sp>
        <p:nvSpPr>
          <p:cNvPr name="TextBox 9" id="9"/>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0" id="10"/>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1" id="11"/>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73489" y="1543497"/>
            <a:ext cx="16937067" cy="9301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Cons of Using Stored Procedures:</a:t>
            </a:r>
          </a:p>
        </p:txBody>
      </p:sp>
      <p:sp>
        <p:nvSpPr>
          <p:cNvPr name="TextBox 8" id="8"/>
          <p:cNvSpPr txBox="true"/>
          <p:nvPr/>
        </p:nvSpPr>
        <p:spPr>
          <a:xfrm rot="0">
            <a:off x="1063092" y="2635573"/>
            <a:ext cx="16042075" cy="3800476"/>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Tight Coupling – Logic is tied closely to the database layer</a:t>
            </a:r>
          </a:p>
          <a:p>
            <a:pPr algn="just">
              <a:lnSpc>
                <a:spcPts val="5099"/>
              </a:lnSpc>
            </a:pPr>
            <a:r>
              <a:rPr lang="en-US" sz="2999">
                <a:solidFill>
                  <a:srgbClr val="FFFFFF"/>
                </a:solidFill>
                <a:latin typeface="Poppins"/>
                <a:ea typeface="Poppins"/>
                <a:cs typeface="Poppins"/>
                <a:sym typeface="Poppins"/>
              </a:rPr>
              <a:t>Putting too much business logic in stored procedures can lead to a tightly coupled system where the application is heavily dependent on the database structure. This reduces</a:t>
            </a:r>
            <a:r>
              <a:rPr lang="en-US" sz="2999">
                <a:solidFill>
                  <a:srgbClr val="FFFFFF"/>
                </a:solidFill>
                <a:latin typeface="Poppins"/>
                <a:ea typeface="Poppins"/>
                <a:cs typeface="Poppins"/>
                <a:sym typeface="Poppins"/>
              </a:rPr>
              <a:t> flexibility, makes testing harder outside of the database, and complicates changes in either layer.</a:t>
            </a:r>
          </a:p>
          <a:p>
            <a:pPr algn="just">
              <a:lnSpc>
                <a:spcPts val="5099"/>
              </a:lnSpc>
            </a:pPr>
          </a:p>
        </p:txBody>
      </p:sp>
      <p:sp>
        <p:nvSpPr>
          <p:cNvPr name="TextBox 9" id="9"/>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0" id="10"/>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1" id="11"/>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4694455" y="9107504"/>
            <a:ext cx="1203104" cy="0"/>
          </a:xfrm>
          <a:prstGeom prst="line">
            <a:avLst/>
          </a:prstGeom>
          <a:ln cap="flat" w="19050">
            <a:gradFill>
              <a:gsLst>
                <a:gs pos="0">
                  <a:srgbClr val="4DA8EA">
                    <a:alpha val="100000"/>
                  </a:srgbClr>
                </a:gs>
                <a:gs pos="100000">
                  <a:srgbClr val="00D856">
                    <a:alpha val="100000"/>
                  </a:srgbClr>
                </a:gs>
              </a:gsLst>
              <a:lin ang="0"/>
            </a:gradFill>
            <a:prstDash val="solid"/>
            <a:headEnd type="none" len="sm" w="sm"/>
            <a:tailEnd type="none" len="sm" w="sm"/>
          </a:ln>
        </p:spPr>
      </p:sp>
      <p:grpSp>
        <p:nvGrpSpPr>
          <p:cNvPr name="Group 3" id="3"/>
          <p:cNvGrpSpPr/>
          <p:nvPr/>
        </p:nvGrpSpPr>
        <p:grpSpPr>
          <a:xfrm rot="0">
            <a:off x="16658475" y="728288"/>
            <a:ext cx="600825" cy="600825"/>
            <a:chOff x="0" y="0"/>
            <a:chExt cx="605054" cy="605054"/>
          </a:xfrm>
        </p:grpSpPr>
        <p:sp>
          <p:nvSpPr>
            <p:cNvPr name="Freeform 4" id="4"/>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5" id="5"/>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73489" y="1543497"/>
            <a:ext cx="16937067" cy="930152"/>
          </a:xfrm>
          <a:prstGeom prst="rect">
            <a:avLst/>
          </a:prstGeom>
        </p:spPr>
        <p:txBody>
          <a:bodyPr anchor="t" rtlCol="false" tIns="0" lIns="0" bIns="0" rIns="0">
            <a:spAutoFit/>
          </a:bodyPr>
          <a:lstStyle/>
          <a:p>
            <a:pPr algn="l">
              <a:lnSpc>
                <a:spcPts val="6656"/>
              </a:lnSpc>
            </a:pPr>
            <a:r>
              <a:rPr lang="en-US" sz="6400" b="true">
                <a:solidFill>
                  <a:srgbClr val="FFFFFF"/>
                </a:solidFill>
                <a:latin typeface="Poppins Bold"/>
                <a:ea typeface="Poppins Bold"/>
                <a:cs typeface="Poppins Bold"/>
                <a:sym typeface="Poppins Bold"/>
              </a:rPr>
              <a:t>Cons of Using Stored Procedures:</a:t>
            </a:r>
          </a:p>
        </p:txBody>
      </p:sp>
      <p:sp>
        <p:nvSpPr>
          <p:cNvPr name="TextBox 8" id="8"/>
          <p:cNvSpPr txBox="true"/>
          <p:nvPr/>
        </p:nvSpPr>
        <p:spPr>
          <a:xfrm rot="0">
            <a:off x="1063092" y="2635573"/>
            <a:ext cx="16042075" cy="3800476"/>
          </a:xfrm>
          <a:prstGeom prst="rect">
            <a:avLst/>
          </a:prstGeom>
        </p:spPr>
        <p:txBody>
          <a:bodyPr anchor="t" rtlCol="false" tIns="0" lIns="0" bIns="0" rIns="0">
            <a:spAutoFit/>
          </a:bodyPr>
          <a:lstStyle/>
          <a:p>
            <a:pPr algn="just">
              <a:lnSpc>
                <a:spcPts val="5099"/>
              </a:lnSpc>
            </a:pPr>
            <a:r>
              <a:rPr lang="en-US" sz="2999">
                <a:solidFill>
                  <a:srgbClr val="FFFFFF"/>
                </a:solidFill>
                <a:latin typeface="Poppins"/>
                <a:ea typeface="Poppins"/>
                <a:cs typeface="Poppins"/>
                <a:sym typeface="Poppins"/>
              </a:rPr>
              <a:t>Tight Coupling – Logic is tied closely to the database layer</a:t>
            </a:r>
          </a:p>
          <a:p>
            <a:pPr algn="just">
              <a:lnSpc>
                <a:spcPts val="5099"/>
              </a:lnSpc>
            </a:pPr>
            <a:r>
              <a:rPr lang="en-US" sz="2999">
                <a:solidFill>
                  <a:srgbClr val="FFFFFF"/>
                </a:solidFill>
                <a:latin typeface="Poppins"/>
                <a:ea typeface="Poppins"/>
                <a:cs typeface="Poppins"/>
                <a:sym typeface="Poppins"/>
              </a:rPr>
              <a:t>Putting too much business logic in stored procedures can lead to a tightly coupled system where the application is heavily dependent on the database structure. This reduces</a:t>
            </a:r>
            <a:r>
              <a:rPr lang="en-US" sz="2999">
                <a:solidFill>
                  <a:srgbClr val="FFFFFF"/>
                </a:solidFill>
                <a:latin typeface="Poppins"/>
                <a:ea typeface="Poppins"/>
                <a:cs typeface="Poppins"/>
                <a:sym typeface="Poppins"/>
              </a:rPr>
              <a:t> flexibility, makes testing harder outside of the database, and complicates changes in either layer.</a:t>
            </a:r>
          </a:p>
          <a:p>
            <a:pPr algn="just">
              <a:lnSpc>
                <a:spcPts val="5099"/>
              </a:lnSpc>
            </a:pPr>
          </a:p>
        </p:txBody>
      </p:sp>
      <p:sp>
        <p:nvSpPr>
          <p:cNvPr name="TextBox 9" id="9"/>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10" id="10"/>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11" id="11"/>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01B0C">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8404107" y="820754"/>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3" id="3"/>
          <p:cNvSpPr txBox="true"/>
          <p:nvPr/>
        </p:nvSpPr>
        <p:spPr>
          <a:xfrm rot="0">
            <a:off x="10784487"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Contact</a:t>
            </a:r>
          </a:p>
        </p:txBody>
      </p:sp>
      <p:sp>
        <p:nvSpPr>
          <p:cNvPr name="TextBox 4" id="4"/>
          <p:cNvSpPr txBox="true"/>
          <p:nvPr/>
        </p:nvSpPr>
        <p:spPr>
          <a:xfrm rot="0">
            <a:off x="6019446" y="838827"/>
            <a:ext cx="1479786"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
        <p:nvSpPr>
          <p:cNvPr name="TextBox 5" id="5"/>
          <p:cNvSpPr txBox="true"/>
          <p:nvPr/>
        </p:nvSpPr>
        <p:spPr>
          <a:xfrm rot="0">
            <a:off x="4302516" y="3517749"/>
            <a:ext cx="9682968" cy="1505089"/>
          </a:xfrm>
          <a:prstGeom prst="rect">
            <a:avLst/>
          </a:prstGeom>
        </p:spPr>
        <p:txBody>
          <a:bodyPr anchor="t" rtlCol="false" tIns="0" lIns="0" bIns="0" rIns="0">
            <a:spAutoFit/>
          </a:bodyPr>
          <a:lstStyle/>
          <a:p>
            <a:pPr algn="ctr">
              <a:lnSpc>
                <a:spcPts val="10732"/>
              </a:lnSpc>
            </a:pPr>
            <a:r>
              <a:rPr lang="en-US" sz="10319" b="true">
                <a:solidFill>
                  <a:srgbClr val="FFFFFF"/>
                </a:solidFill>
                <a:latin typeface="Poppins Bold"/>
                <a:ea typeface="Poppins Bold"/>
                <a:cs typeface="Poppins Bold"/>
                <a:sym typeface="Poppins Bold"/>
              </a:rPr>
              <a:t>Thank You</a:t>
            </a:r>
          </a:p>
        </p:txBody>
      </p:sp>
      <p:grpSp>
        <p:nvGrpSpPr>
          <p:cNvPr name="Group 6" id="6"/>
          <p:cNvGrpSpPr/>
          <p:nvPr/>
        </p:nvGrpSpPr>
        <p:grpSpPr>
          <a:xfrm rot="0">
            <a:off x="6023727" y="5143500"/>
            <a:ext cx="6240545" cy="823571"/>
            <a:chOff x="0" y="0"/>
            <a:chExt cx="6284470" cy="829367"/>
          </a:xfrm>
        </p:grpSpPr>
        <p:sp>
          <p:nvSpPr>
            <p:cNvPr name="Freeform 7" id="7"/>
            <p:cNvSpPr/>
            <p:nvPr/>
          </p:nvSpPr>
          <p:spPr>
            <a:xfrm flipH="false" flipV="false" rot="0">
              <a:off x="0" y="0"/>
              <a:ext cx="6284470" cy="829367"/>
            </a:xfrm>
            <a:custGeom>
              <a:avLst/>
              <a:gdLst/>
              <a:ahLst/>
              <a:cxnLst/>
              <a:rect r="r" b="b" t="t" l="l"/>
              <a:pathLst>
                <a:path h="829367" w="6284470">
                  <a:moveTo>
                    <a:pt x="68232" y="0"/>
                  </a:moveTo>
                  <a:lnTo>
                    <a:pt x="6216238" y="0"/>
                  </a:lnTo>
                  <a:cubicBezTo>
                    <a:pt x="6234334" y="0"/>
                    <a:pt x="6251689" y="7189"/>
                    <a:pt x="6264485" y="19985"/>
                  </a:cubicBezTo>
                  <a:cubicBezTo>
                    <a:pt x="6277281" y="32781"/>
                    <a:pt x="6284470" y="50136"/>
                    <a:pt x="6284470" y="68232"/>
                  </a:cubicBezTo>
                  <a:lnTo>
                    <a:pt x="6284470" y="761135"/>
                  </a:lnTo>
                  <a:cubicBezTo>
                    <a:pt x="6284470" y="798819"/>
                    <a:pt x="6253921" y="829367"/>
                    <a:pt x="6216238" y="829367"/>
                  </a:cubicBezTo>
                  <a:lnTo>
                    <a:pt x="68232" y="829367"/>
                  </a:lnTo>
                  <a:cubicBezTo>
                    <a:pt x="50136" y="829367"/>
                    <a:pt x="32781" y="822179"/>
                    <a:pt x="19985" y="809383"/>
                  </a:cubicBezTo>
                  <a:cubicBezTo>
                    <a:pt x="7189" y="796587"/>
                    <a:pt x="0" y="779232"/>
                    <a:pt x="0" y="761135"/>
                  </a:cubicBezTo>
                  <a:lnTo>
                    <a:pt x="0" y="68232"/>
                  </a:lnTo>
                  <a:cubicBezTo>
                    <a:pt x="0" y="50136"/>
                    <a:pt x="7189" y="32781"/>
                    <a:pt x="19985" y="19985"/>
                  </a:cubicBezTo>
                  <a:cubicBezTo>
                    <a:pt x="32781" y="7189"/>
                    <a:pt x="50136" y="0"/>
                    <a:pt x="68232" y="0"/>
                  </a:cubicBezTo>
                  <a:close/>
                </a:path>
              </a:pathLst>
            </a:custGeom>
            <a:gradFill rotWithShape="true">
              <a:gsLst>
                <a:gs pos="0">
                  <a:srgbClr val="4DA8EA">
                    <a:alpha val="85000"/>
                  </a:srgbClr>
                </a:gs>
                <a:gs pos="100000">
                  <a:srgbClr val="00D856">
                    <a:alpha val="85000"/>
                  </a:srgbClr>
                </a:gs>
              </a:gsLst>
              <a:lin ang="0"/>
            </a:gradFill>
            <a:ln w="9525" cap="rnd">
              <a:solidFill>
                <a:srgbClr val="FFFFFF">
                  <a:alpha val="84706"/>
                </a:srgbClr>
              </a:solidFill>
              <a:prstDash val="solid"/>
              <a:round/>
            </a:ln>
          </p:spPr>
        </p:sp>
        <p:sp>
          <p:nvSpPr>
            <p:cNvPr name="TextBox 8" id="8"/>
            <p:cNvSpPr txBox="true"/>
            <p:nvPr/>
          </p:nvSpPr>
          <p:spPr>
            <a:xfrm>
              <a:off x="0" y="-38100"/>
              <a:ext cx="6284470" cy="867467"/>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6450116" y="5384788"/>
            <a:ext cx="5387768" cy="321945"/>
          </a:xfrm>
          <a:prstGeom prst="rect">
            <a:avLst/>
          </a:prstGeom>
        </p:spPr>
        <p:txBody>
          <a:bodyPr anchor="t" rtlCol="false" tIns="0" lIns="0" bIns="0" rIns="0">
            <a:spAutoFit/>
          </a:bodyPr>
          <a:lstStyle/>
          <a:p>
            <a:pPr algn="ctr">
              <a:lnSpc>
                <a:spcPts val="2340"/>
              </a:lnSpc>
            </a:pPr>
            <a:r>
              <a:rPr lang="en-US" sz="2000" spc="744">
                <a:solidFill>
                  <a:srgbClr val="000000"/>
                </a:solidFill>
                <a:latin typeface="Poppins"/>
                <a:ea typeface="Poppins"/>
                <a:cs typeface="Poppins"/>
                <a:sym typeface="Poppins"/>
              </a:rPr>
              <a:t>FOR YOUR ATTENTION</a:t>
            </a:r>
          </a:p>
        </p:txBody>
      </p:sp>
      <p:grpSp>
        <p:nvGrpSpPr>
          <p:cNvPr name="Group 10" id="10"/>
          <p:cNvGrpSpPr/>
          <p:nvPr/>
        </p:nvGrpSpPr>
        <p:grpSpPr>
          <a:xfrm rot="0">
            <a:off x="16658475" y="728288"/>
            <a:ext cx="600825" cy="600825"/>
            <a:chOff x="0" y="0"/>
            <a:chExt cx="605054" cy="605054"/>
          </a:xfrm>
        </p:grpSpPr>
        <p:sp>
          <p:nvSpPr>
            <p:cNvPr name="Freeform 11" id="11"/>
            <p:cNvSpPr/>
            <p:nvPr/>
          </p:nvSpPr>
          <p:spPr>
            <a:xfrm flipH="false" flipV="false" rot="0">
              <a:off x="0" y="0"/>
              <a:ext cx="605054" cy="605054"/>
            </a:xfrm>
            <a:custGeom>
              <a:avLst/>
              <a:gdLst/>
              <a:ahLst/>
              <a:cxnLst/>
              <a:rect r="r" b="b" t="t" l="l"/>
              <a:pathLst>
                <a:path h="605054" w="605054">
                  <a:moveTo>
                    <a:pt x="170606" y="0"/>
                  </a:moveTo>
                  <a:lnTo>
                    <a:pt x="434448" y="0"/>
                  </a:lnTo>
                  <a:cubicBezTo>
                    <a:pt x="479695" y="0"/>
                    <a:pt x="523090" y="17974"/>
                    <a:pt x="555084" y="49969"/>
                  </a:cubicBezTo>
                  <a:cubicBezTo>
                    <a:pt x="587079" y="81964"/>
                    <a:pt x="605054" y="125358"/>
                    <a:pt x="605054" y="170606"/>
                  </a:cubicBezTo>
                  <a:lnTo>
                    <a:pt x="605054" y="434448"/>
                  </a:lnTo>
                  <a:cubicBezTo>
                    <a:pt x="605054" y="528671"/>
                    <a:pt x="528671" y="605054"/>
                    <a:pt x="434448" y="605054"/>
                  </a:cubicBezTo>
                  <a:lnTo>
                    <a:pt x="170606" y="605054"/>
                  </a:lnTo>
                  <a:cubicBezTo>
                    <a:pt x="76383" y="605054"/>
                    <a:pt x="0" y="528671"/>
                    <a:pt x="0" y="434448"/>
                  </a:cubicBezTo>
                  <a:lnTo>
                    <a:pt x="0" y="170606"/>
                  </a:lnTo>
                  <a:cubicBezTo>
                    <a:pt x="0" y="76383"/>
                    <a:pt x="76383" y="0"/>
                    <a:pt x="170606" y="0"/>
                  </a:cubicBezTo>
                  <a:close/>
                </a:path>
              </a:pathLst>
            </a:custGeom>
            <a:gradFill rotWithShape="true">
              <a:gsLst>
                <a:gs pos="0">
                  <a:srgbClr val="4DA8EA">
                    <a:alpha val="85000"/>
                  </a:srgbClr>
                </a:gs>
                <a:gs pos="100000">
                  <a:srgbClr val="00D856">
                    <a:alpha val="85000"/>
                  </a:srgbClr>
                </a:gs>
              </a:gsLst>
              <a:lin ang="0"/>
            </a:gradFill>
            <a:ln w="9525" cap="sq">
              <a:solidFill>
                <a:srgbClr val="FFFFFF">
                  <a:alpha val="84706"/>
                </a:srgbClr>
              </a:solidFill>
              <a:prstDash val="solid"/>
              <a:miter/>
            </a:ln>
          </p:spPr>
        </p:sp>
        <p:sp>
          <p:nvSpPr>
            <p:cNvPr name="TextBox 12" id="12"/>
            <p:cNvSpPr txBox="true"/>
            <p:nvPr/>
          </p:nvSpPr>
          <p:spPr>
            <a:xfrm>
              <a:off x="0" y="-38100"/>
              <a:ext cx="605054" cy="643154"/>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6812608" y="859798"/>
            <a:ext cx="292558" cy="337804"/>
          </a:xfrm>
          <a:custGeom>
            <a:avLst/>
            <a:gdLst/>
            <a:ahLst/>
            <a:cxnLst/>
            <a:rect r="r" b="b" t="t" l="l"/>
            <a:pathLst>
              <a:path h="337804" w="292558">
                <a:moveTo>
                  <a:pt x="0" y="0"/>
                </a:moveTo>
                <a:lnTo>
                  <a:pt x="292559" y="0"/>
                </a:lnTo>
                <a:lnTo>
                  <a:pt x="292559" y="337804"/>
                </a:lnTo>
                <a:lnTo>
                  <a:pt x="0" y="337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DAGmKljFjsk</dc:identifier>
  <dcterms:modified xsi:type="dcterms:W3CDTF">2011-08-01T06:04:30Z</dcterms:modified>
  <cp:revision>1</cp:revision>
  <dc:title>Stored Procedure</dc:title>
</cp:coreProperties>
</file>